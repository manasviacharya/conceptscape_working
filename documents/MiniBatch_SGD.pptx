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D9861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OPTIMIZATION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Stochastic Gradient Descent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319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3931920"/>
            <a:ext cx="138988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393192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0752" y="3931920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3931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38928" y="3931920"/>
            <a:ext cx="212140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393192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61504" y="3931920"/>
            <a:ext cx="202996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1504" y="393192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Deck  ·  Neural Networks &amp; Deep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Update Rule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 updates the model's weights using the average gradient computed over a small batch of b samples (commonly 16–256), instead of one sample (SGD) or the entire dataset (Batch Gradient Descent) — balancing the stability of Batch GD with the speed of SGD.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80360"/>
          </a:xfrm>
          <a:prstGeom prst="roundRect">
            <a:avLst>
              <a:gd name="adj" fmla="val 2540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547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w − η · (1/b) Σᵢ∈batch ∇Jᵢ(w)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4553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864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03120" y="486460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(parameter) being learned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193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03120" y="5193792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5229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03120" y="552297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— number of samples in the mini-batch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8521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∇Jᵢ(w)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03120" y="585216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of the loss for the i-th sample; averaged over the batch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 — Theory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w (often to 0 or a small random value); choose batch size b.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2128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185416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epoch: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2724912"/>
            <a:ext cx="73152" cy="73152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2633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the training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00200" y="3054096"/>
            <a:ext cx="73152" cy="73152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296265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 into mini-batches of size b.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00200" y="3419856"/>
            <a:ext cx="73152" cy="73152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332841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mini-batch: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3739896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8" name="Text 16"/>
          <p:cNvSpPr/>
          <p:nvPr/>
        </p:nvSpPr>
        <p:spPr>
          <a:xfrm>
            <a:off x="2240280" y="36576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For each sample (xᵢ, yᵢ) in the batch, compute ŷᵢ = w·xᵢ and errorᵢ = ŷᵢ − yᵢ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057400" y="4050792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39684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Compute the average gradient over the batch: ∇J(w) = (1/b) Σᵢ (ŷᵢ − yᵢ)·xᵢ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057400" y="4361688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22" name="Text 20"/>
          <p:cNvSpPr/>
          <p:nvPr/>
        </p:nvSpPr>
        <p:spPr>
          <a:xfrm>
            <a:off x="2240280" y="4279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Update: w ← w − η · ∇J(w)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600200" y="4681728"/>
            <a:ext cx="73152" cy="73152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24" name="Text 22"/>
          <p:cNvSpPr/>
          <p:nvPr/>
        </p:nvSpPr>
        <p:spPr>
          <a:xfrm>
            <a:off x="1783080" y="459028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the next mini-batch and repeat.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8680" y="5029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50017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convergence.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 — Theory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per epoch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/ b (fewer than SGD, more than Batch GD)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path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Moderately smooth — less noisy than SGD, less rigid than Batch GD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only one batch needs to be in memory at a 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— batches map well onto GPU/TPU parallelism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minima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noise remains — enough to help escape shallow minima, more stably than SGD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49377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4937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 </a:t>
            </a:r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a random sample of 200 voters instead of asking one person or the entire country — enough signal, far less effort.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 — Theory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w · x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trained using Mini-Batch SGD on the following data (which follows the true relation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566160" y="2651760"/>
            <a:ext cx="8046720" cy="2514600"/>
          </a:xfrm>
          <a:prstGeom prst="roundRect">
            <a:avLst>
              <a:gd name="adj" fmla="val 290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862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86200" y="3364992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Loss function: 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½(ŷ − y)²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 so  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∂L/∂w = (ŷ − y)·x
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Initial weight  w₀ = 0
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Learning rate  η = 0.1
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Batch size  b = 2  →  batches: B₁ = {(1,2),(2,4)},  B₂ = {(3,6),(4,8)}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5394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3949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</a:t>
            </a:r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w after one full epoch (2 mini-batches of size 2, in order) of Mini-Batch SGD.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 — Theory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Two Mini-Batch Updates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mini-batch computes </a:t>
            </a:r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gradient averaged over its 2 samples</a:t>
            </a:r>
            <a:pPr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applies </a:t>
            </a:r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update.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C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B₁ = {(1,2), (2,4)},  w₀ =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ŷᵢ = 0, 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errorᵢ = −2, −4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8221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gradᵢ = errorᵢ·xᵢ = −2, −8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2793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∇J(w) = (−2−8)/2 = −5.0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7365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w₁ = 0 − 0.1(−5.0) = 0.500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C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B₂ = {(3,6), (4,8)},  w₁ = 0.5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907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ŷᵢ = 1.5, 2.0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33649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errorᵢ = −4.5, −6.0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8221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gradᵢ = errorᵢ·xᵢ = −13.5, −24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42793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∇J(w) = (−13.5−24)/2 = −18.75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47365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w₂ = 0.5 − 0.1(−18.75) = 2.375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61081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6108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6035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 epoch (2 mini-batch updates), </a:t>
            </a:r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2.375</a:t>
            </a:r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fewer, steadier steps than SGD's 4 updates, each one averaged over more information.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 — Theory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455403A244C844826B21F6E390126F" ma:contentTypeVersion="3" ma:contentTypeDescription="Create a new document." ma:contentTypeScope="" ma:versionID="7fbb4b53e152e6d76ee280997ec5b35d">
  <xsd:schema xmlns:xsd="http://www.w3.org/2001/XMLSchema" xmlns:xs="http://www.w3.org/2001/XMLSchema" xmlns:p="http://schemas.microsoft.com/office/2006/metadata/properties" xmlns:ns2="a77c890a-8b4b-4fa9-b3cb-8d4d1ee30786" targetNamespace="http://schemas.microsoft.com/office/2006/metadata/properties" ma:root="true" ma:fieldsID="29aa713a711771577e31e938be75d0d8" ns2:_="">
    <xsd:import namespace="a77c890a-8b4b-4fa9-b3cb-8d4d1ee307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7c890a-8b4b-4fa9-b3cb-8d4d1ee307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2FE96B-1778-42CF-B7B7-7ED83A993FD7}"/>
</file>

<file path=customXml/itemProps2.xml><?xml version="1.0" encoding="utf-8"?>
<ds:datastoreItem xmlns:ds="http://schemas.openxmlformats.org/officeDocument/2006/customXml" ds:itemID="{82B983AC-3208-4B07-9F4E-A26CC1F16B19}"/>
</file>

<file path=customXml/itemProps3.xml><?xml version="1.0" encoding="utf-8"?>
<ds:datastoreItem xmlns:ds="http://schemas.openxmlformats.org/officeDocument/2006/customXml" ds:itemID="{ADA41FD2-7906-4AF0-943F-B3F34CA9164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2026-08-18T04:27:32Z</dcterms:created>
  <dcterms:modified xsi:type="dcterms:W3CDTF">2026-08-18T04:27:32Z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0x0101009F455403A244C844826B21F6E390126F</vt:lpwstr>
  </property>
</Properties>
</file>