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D9861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OPTIMIZATION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Gradient Descent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2332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97764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39696" y="3977640"/>
            <a:ext cx="1389888" cy="329184"/>
          </a:xfrm>
          <a:prstGeom prst="roundRect">
            <a:avLst>
              <a:gd name="adj" fmla="val 50000"/>
            </a:avLst>
          </a:prstGeom>
          <a:solidFill>
            <a:srgbClr val="2332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9696" y="397764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30752" y="3977640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2332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397764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38928" y="3977640"/>
            <a:ext cx="2121408" cy="329184"/>
          </a:xfrm>
          <a:prstGeom prst="roundRect">
            <a:avLst>
              <a:gd name="adj" fmla="val 50000"/>
            </a:avLst>
          </a:prstGeom>
          <a:solidFill>
            <a:srgbClr val="2332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397764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61504" y="3977640"/>
            <a:ext cx="2029968" cy="329184"/>
          </a:xfrm>
          <a:prstGeom prst="roundRect">
            <a:avLst>
              <a:gd name="adj" fmla="val 50000"/>
            </a:avLst>
          </a:prstGeom>
          <a:solidFill>
            <a:srgbClr val="2332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61504" y="397764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Deck  ·  Neural Networks &amp; Deep Learning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Update Rule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27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Gradient Descent updates the model's weights by computing the gradient using the entire training dataset in a single pass, then taking one step — instead of updating after every individual sample (as in Stochastic Gradient Descent).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5478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= w − η · ∇J(w)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6868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4983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03120" y="498348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(parameter) being learned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53675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η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03120" y="536752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57515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∇J(w)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103120" y="575157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of the loss averaged over the ENTIRE training set (all N samples)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Gradient Descent — Theory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846320"/>
          </a:xfrm>
          <a:prstGeom prst="roundRect">
            <a:avLst>
              <a:gd name="adj" fmla="val 1509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373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70992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w (often to 0 or a small random value).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21284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185416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epoch: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00200" y="2752344"/>
            <a:ext cx="73152" cy="73152"/>
          </a:xfrm>
          <a:prstGeom prst="ellipse">
            <a:avLst/>
          </a:prstGeom>
          <a:solidFill>
            <a:srgbClr val="7C8CA0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265176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training sample (xᵢ, yᵢ), i = 1 … N: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57400" y="3108960"/>
            <a:ext cx="54864" cy="54864"/>
          </a:xfrm>
          <a:prstGeom prst="ellipse">
            <a:avLst/>
          </a:prstGeom>
          <a:solidFill>
            <a:srgbClr val="7C8CA0"/>
          </a:solidFill>
          <a:ln/>
        </p:spPr>
      </p:sp>
      <p:sp>
        <p:nvSpPr>
          <p:cNvPr id="14" name="Text 12"/>
          <p:cNvSpPr/>
          <p:nvPr/>
        </p:nvSpPr>
        <p:spPr>
          <a:xfrm>
            <a:off x="2240280" y="301752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Compute prediction ŷᵢ = w · xᵢ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57400" y="3456432"/>
            <a:ext cx="54864" cy="54864"/>
          </a:xfrm>
          <a:prstGeom prst="ellipse">
            <a:avLst/>
          </a:prstGeom>
          <a:solidFill>
            <a:srgbClr val="7C8CA0"/>
          </a:solidFill>
          <a:ln/>
        </p:spPr>
      </p:sp>
      <p:sp>
        <p:nvSpPr>
          <p:cNvPr id="16" name="Text 14"/>
          <p:cNvSpPr/>
          <p:nvPr/>
        </p:nvSpPr>
        <p:spPr>
          <a:xfrm>
            <a:off x="2240280" y="336499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Compute errorᵢ = ŷᵢ − yᵢ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600200" y="3849624"/>
            <a:ext cx="73152" cy="73152"/>
          </a:xfrm>
          <a:prstGeom prst="ellipse">
            <a:avLst/>
          </a:prstGeom>
          <a:solidFill>
            <a:srgbClr val="7C8CA0"/>
          </a:solidFill>
          <a:ln/>
        </p:spPr>
      </p:sp>
      <p:sp>
        <p:nvSpPr>
          <p:cNvPr id="18" name="Text 16"/>
          <p:cNvSpPr/>
          <p:nvPr/>
        </p:nvSpPr>
        <p:spPr>
          <a:xfrm>
            <a:off x="1783080" y="374904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gradient over the WHOLE dataset: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57400" y="4206240"/>
            <a:ext cx="54864" cy="54864"/>
          </a:xfrm>
          <a:prstGeom prst="ellipse">
            <a:avLst/>
          </a:prstGeom>
          <a:solidFill>
            <a:srgbClr val="7C8CA0"/>
          </a:solidFill>
          <a:ln/>
        </p:spPr>
      </p:sp>
      <p:sp>
        <p:nvSpPr>
          <p:cNvPr id="20" name="Text 18"/>
          <p:cNvSpPr/>
          <p:nvPr/>
        </p:nvSpPr>
        <p:spPr>
          <a:xfrm>
            <a:off x="2240280" y="411480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∇J(w) = (1/N) Σᵢ (ŷᵢ − yᵢ) · xᵢ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600200" y="4581144"/>
            <a:ext cx="73152" cy="73152"/>
          </a:xfrm>
          <a:prstGeom prst="ellipse">
            <a:avLst/>
          </a:prstGeom>
          <a:solidFill>
            <a:srgbClr val="7C8CA0"/>
          </a:solidFill>
          <a:ln/>
        </p:spPr>
      </p:sp>
      <p:sp>
        <p:nvSpPr>
          <p:cNvPr id="22" name="Text 20"/>
          <p:cNvSpPr/>
          <p:nvPr/>
        </p:nvSpPr>
        <p:spPr>
          <a:xfrm>
            <a:off x="1783080" y="448056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(once, using that single averaged gradient):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57400" y="4937760"/>
            <a:ext cx="54864" cy="54864"/>
          </a:xfrm>
          <a:prstGeom prst="ellipse">
            <a:avLst/>
          </a:prstGeom>
          <a:solidFill>
            <a:srgbClr val="7C8CA0"/>
          </a:solidFill>
          <a:ln/>
        </p:spPr>
      </p:sp>
      <p:sp>
        <p:nvSpPr>
          <p:cNvPr id="24" name="Text 22"/>
          <p:cNvSpPr/>
          <p:nvPr/>
        </p:nvSpPr>
        <p:spPr>
          <a:xfrm>
            <a:off x="2240280" y="484632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← w − η · ∇J(w)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68680" y="53218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71600" y="5294376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convergence.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Gradient Descent — Theory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Updates per epoch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(uses all N samples for a single update)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Convergence path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Smooth, direct path to the minimum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the entire dataset must be held at once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per epoch on large datasets, but stable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minima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noise to help escape shallow local minima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49377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00200" y="4937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analogy:  </a:t>
            </a:r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city planner who waits to review traffic data from every intersection in the city before making one coordinated change to all the traffic lights — thorough and stable, but slow to react.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Gradient Descent — Theory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w · x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trained using Batch Gradient Descent on the following data (which follows the true relation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2x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2743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566160" y="2651760"/>
            <a:ext cx="8046720" cy="2331720"/>
          </a:xfrm>
          <a:prstGeom prst="roundRect">
            <a:avLst>
              <a:gd name="adj" fmla="val 3137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8620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886200" y="3401568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Loss function (mean over N = 4 samples): </a:t>
            </a:r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 = (1/2N)Σ(ŷᵢ − yᵢ)²</a:t>
            </a:r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
</a:t>
            </a:r>
            <a:endParaRPr lang="en-US" sz="13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so  </a:t>
            </a:r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∂L/∂w = (1/N)Σ(ŷᵢ − yᵢ)·xᵢ
</a:t>
            </a:r>
            <a:endParaRPr lang="en-US" sz="13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Initial weight  w₀ = 0
</a:t>
            </a:r>
            <a:endParaRPr lang="en-US" sz="13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Learning rate  η = 0.1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52120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5212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Find: </a:t>
            </a:r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 w after two full epochs (2 batch updates, each over all 4 samples) of Batch GD.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Gradient Descent — Theory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Two Full-Batch Updates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epoch computes </a:t>
            </a:r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gradient averaged over all 4 samples</a:t>
            </a:r>
            <a:pPr indent="0" marL="0">
              <a:buNone/>
            </a:pPr>
            <a:r>
              <a:rPr lang="en-US" sz="14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applies </a:t>
            </a:r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indent="0" marL="0">
              <a:buNone/>
            </a:pPr>
            <a:r>
              <a:rPr lang="en-US" sz="14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update.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C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 = 4 samples, w₀ = 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9077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ŷᵢ = 0, 0, 0, 0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3649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errorᵢ = −2, −4, −6, −8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8221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gradᵢ = errorᵢ·xᵢ = −2, −8, −18, −32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42793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∇J(w) = (−2−8−18−32)/4 = −15.0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7365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w₁ = 0 − 0.1(−15.0) = 1.500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187452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4871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C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 = 4 samples, w₁ = 1.5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9077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ŷᵢ = 1.5, 3, 4.5, 6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33649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errorᵢ = −0.5, −1, −1.5, −2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92240" y="38221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gradᵢ = errorᵢ·xᵢ = −0.5, −2, −4.5, −8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42793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∇J(w) = (−0.5−2−4.5−8)/4 = −3.75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92240" y="47365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w₂ = 1.5 − 0.1(−3.75) = 1.875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9893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610819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6108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6035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2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 epochs, </a:t>
            </a:r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1.875</a:t>
            </a:r>
            <a:pPr indent="0" marL="0">
              <a:buNone/>
            </a:pPr>
            <a:r>
              <a:rPr lang="en-US" sz="12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smooth, steady climb toward w = 2, with no zig-zag or overshoot.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Gradient Descent — Theory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455403A244C844826B21F6E390126F" ma:contentTypeVersion="3" ma:contentTypeDescription="Create a new document." ma:contentTypeScope="" ma:versionID="7fbb4b53e152e6d76ee280997ec5b35d">
  <xsd:schema xmlns:xsd="http://www.w3.org/2001/XMLSchema" xmlns:xs="http://www.w3.org/2001/XMLSchema" xmlns:p="http://schemas.microsoft.com/office/2006/metadata/properties" xmlns:ns2="a77c890a-8b4b-4fa9-b3cb-8d4d1ee30786" targetNamespace="http://schemas.microsoft.com/office/2006/metadata/properties" ma:root="true" ma:fieldsID="29aa713a711771577e31e938be75d0d8" ns2:_="">
    <xsd:import namespace="a77c890a-8b4b-4fa9-b3cb-8d4d1ee307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7c890a-8b4b-4fa9-b3cb-8d4d1ee307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F3A672D-98E5-4F6F-8983-A4034920E3C6}"/>
</file>

<file path=customXml/itemProps2.xml><?xml version="1.0" encoding="utf-8"?>
<ds:datastoreItem xmlns:ds="http://schemas.openxmlformats.org/officeDocument/2006/customXml" ds:itemID="{6D799F0F-F7B3-4E43-B6D2-C47538832C34}"/>
</file>

<file path=customXml/itemProps3.xml><?xml version="1.0" encoding="utf-8"?>
<ds:datastoreItem xmlns:ds="http://schemas.openxmlformats.org/officeDocument/2006/customXml" ds:itemID="{2377C289-DF50-453F-90C1-F4CB36F9B39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2026-08-18T04:13:16Z</dcterms:created>
  <dcterms:modified xsi:type="dcterms:W3CDTF">2026-08-18T04:13:16Z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0x0101009F455403A244C844826B21F6E390126F</vt:lpwstr>
  </property>
</Properties>
</file>