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1.xml" ContentType="application/vnd.openxmlformats-officedocument.drawingml.chart+xml"/>
  <Override PartName="/ppt/notesSlides/notesSlide37.xml" ContentType="application/vnd.openxmlformats-officedocument.presentationml.notesSlide+xml"/>
  <Override PartName="/ppt/charts/chart2.xml" ContentType="application/vnd.openxmlformats-officedocument.drawingml.chart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90" r:id="rId3"/>
    <p:sldId id="29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0" r:id="rId14"/>
    <p:sldId id="271" r:id="rId15"/>
    <p:sldId id="275" r:id="rId16"/>
    <p:sldId id="288" r:id="rId17"/>
    <p:sldId id="289" r:id="rId18"/>
    <p:sldId id="274" r:id="rId19"/>
    <p:sldId id="276" r:id="rId20"/>
    <p:sldId id="272" r:id="rId21"/>
    <p:sldId id="273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77" r:id="rId32"/>
    <p:sldId id="265" r:id="rId33"/>
    <p:sldId id="266" r:id="rId34"/>
    <p:sldId id="267" r:id="rId35"/>
    <p:sldId id="268" r:id="rId36"/>
    <p:sldId id="295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Sigmoid′(x)  — max 0.25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-6.0</c:v>
                </c:pt>
                <c:pt idx="1">
                  <c:v>-5.5</c:v>
                </c:pt>
                <c:pt idx="2">
                  <c:v>-5.0</c:v>
                </c:pt>
                <c:pt idx="3">
                  <c:v>-4.5</c:v>
                </c:pt>
                <c:pt idx="4">
                  <c:v>-4.0</c:v>
                </c:pt>
                <c:pt idx="5">
                  <c:v>-3.5</c:v>
                </c:pt>
                <c:pt idx="6">
                  <c:v>-3.0</c:v>
                </c:pt>
                <c:pt idx="7">
                  <c:v>-2.5</c:v>
                </c:pt>
                <c:pt idx="8">
                  <c:v>-2.0</c:v>
                </c:pt>
                <c:pt idx="9">
                  <c:v>-1.5</c:v>
                </c:pt>
                <c:pt idx="10">
                  <c:v>-1.0</c:v>
                </c:pt>
                <c:pt idx="11">
                  <c:v>-0.5</c:v>
                </c:pt>
                <c:pt idx="12">
                  <c:v>0.0</c:v>
                </c:pt>
                <c:pt idx="13">
                  <c:v>0.5</c:v>
                </c:pt>
                <c:pt idx="14">
                  <c:v>1.0</c:v>
                </c:pt>
                <c:pt idx="15">
                  <c:v>1.5</c:v>
                </c:pt>
                <c:pt idx="16">
                  <c:v>2.0</c:v>
                </c:pt>
                <c:pt idx="17">
                  <c:v>2.5</c:v>
                </c:pt>
                <c:pt idx="18">
                  <c:v>3.0</c:v>
                </c:pt>
                <c:pt idx="19">
                  <c:v>3.5</c:v>
                </c:pt>
                <c:pt idx="20">
                  <c:v>4.0</c:v>
                </c:pt>
                <c:pt idx="21">
                  <c:v>4.5</c:v>
                </c:pt>
                <c:pt idx="22">
                  <c:v>5.0</c:v>
                </c:pt>
                <c:pt idx="23">
                  <c:v>5.5</c:v>
                </c:pt>
                <c:pt idx="24">
                  <c:v>6.0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2.466509291360048E-3</c:v>
                </c:pt>
                <c:pt idx="1">
                  <c:v>4.0535716948697674E-3</c:v>
                </c:pt>
                <c:pt idx="2">
                  <c:v>6.6480566707901546E-3</c:v>
                </c:pt>
                <c:pt idx="3">
                  <c:v>1.0866229722225234E-2</c:v>
                </c:pt>
                <c:pt idx="4">
                  <c:v>1.7662706213291118E-2</c:v>
                </c:pt>
                <c:pt idx="5">
                  <c:v>2.845302387973556E-2</c:v>
                </c:pt>
                <c:pt idx="6">
                  <c:v>4.5176659730912137E-2</c:v>
                </c:pt>
                <c:pt idx="7">
                  <c:v>7.010371654510815E-2</c:v>
                </c:pt>
                <c:pt idx="8">
                  <c:v>0.10499358540350651</c:v>
                </c:pt>
                <c:pt idx="9">
                  <c:v>0.14914645207033286</c:v>
                </c:pt>
                <c:pt idx="10">
                  <c:v>0.19661193324148185</c:v>
                </c:pt>
                <c:pt idx="11">
                  <c:v>0.23500371220159449</c:v>
                </c:pt>
                <c:pt idx="12">
                  <c:v>0.25</c:v>
                </c:pt>
                <c:pt idx="13">
                  <c:v>0.23500371220159449</c:v>
                </c:pt>
                <c:pt idx="14">
                  <c:v>0.19661193324148185</c:v>
                </c:pt>
                <c:pt idx="15">
                  <c:v>0.14914645207033286</c:v>
                </c:pt>
                <c:pt idx="16">
                  <c:v>0.10499358540350662</c:v>
                </c:pt>
                <c:pt idx="17">
                  <c:v>7.0103716545108066E-2</c:v>
                </c:pt>
                <c:pt idx="18">
                  <c:v>4.5176659730911999E-2</c:v>
                </c:pt>
                <c:pt idx="19">
                  <c:v>2.8453023879735598E-2</c:v>
                </c:pt>
                <c:pt idx="20">
                  <c:v>1.7662706213291107E-2</c:v>
                </c:pt>
                <c:pt idx="21">
                  <c:v>1.0866229722225243E-2</c:v>
                </c:pt>
                <c:pt idx="22">
                  <c:v>6.6480566707900332E-3</c:v>
                </c:pt>
                <c:pt idx="23">
                  <c:v>4.0535716948696789E-3</c:v>
                </c:pt>
                <c:pt idx="24">
                  <c:v>2.4665092913599309E-3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73-4295-B8DC-A7D67B18D0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Tanh′(x)  — max 1.0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-6.0</c:v>
                </c:pt>
                <c:pt idx="1">
                  <c:v>-5.5</c:v>
                </c:pt>
                <c:pt idx="2">
                  <c:v>-5.0</c:v>
                </c:pt>
                <c:pt idx="3">
                  <c:v>-4.5</c:v>
                </c:pt>
                <c:pt idx="4">
                  <c:v>-4.0</c:v>
                </c:pt>
                <c:pt idx="5">
                  <c:v>-3.5</c:v>
                </c:pt>
                <c:pt idx="6">
                  <c:v>-3.0</c:v>
                </c:pt>
                <c:pt idx="7">
                  <c:v>-2.5</c:v>
                </c:pt>
                <c:pt idx="8">
                  <c:v>-2.0</c:v>
                </c:pt>
                <c:pt idx="9">
                  <c:v>-1.5</c:v>
                </c:pt>
                <c:pt idx="10">
                  <c:v>-1.0</c:v>
                </c:pt>
                <c:pt idx="11">
                  <c:v>-0.5</c:v>
                </c:pt>
                <c:pt idx="12">
                  <c:v>0.0</c:v>
                </c:pt>
                <c:pt idx="13">
                  <c:v>0.5</c:v>
                </c:pt>
                <c:pt idx="14">
                  <c:v>1.0</c:v>
                </c:pt>
                <c:pt idx="15">
                  <c:v>1.5</c:v>
                </c:pt>
                <c:pt idx="16">
                  <c:v>2.0</c:v>
                </c:pt>
                <c:pt idx="17">
                  <c:v>2.5</c:v>
                </c:pt>
                <c:pt idx="18">
                  <c:v>3.0</c:v>
                </c:pt>
                <c:pt idx="19">
                  <c:v>3.5</c:v>
                </c:pt>
                <c:pt idx="20">
                  <c:v>4.0</c:v>
                </c:pt>
                <c:pt idx="21">
                  <c:v>4.5</c:v>
                </c:pt>
                <c:pt idx="22">
                  <c:v>5.0</c:v>
                </c:pt>
                <c:pt idx="23">
                  <c:v>5.5</c:v>
                </c:pt>
                <c:pt idx="24">
                  <c:v>6.0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2.4576547405286142E-5</c:v>
                </c:pt>
                <c:pt idx="1">
                  <c:v>6.6804571642542498E-5</c:v>
                </c:pt>
                <c:pt idx="2">
                  <c:v>1.8158323094386031E-4</c:v>
                </c:pt>
                <c:pt idx="3">
                  <c:v>4.9351739905945102E-4</c:v>
                </c:pt>
                <c:pt idx="4">
                  <c:v>1.3409506830258655E-3</c:v>
                </c:pt>
                <c:pt idx="5">
                  <c:v>3.6408847204874029E-3</c:v>
                </c:pt>
                <c:pt idx="6">
                  <c:v>9.8660371654402113E-3</c:v>
                </c:pt>
                <c:pt idx="7">
                  <c:v>2.6592226683160525E-2</c:v>
                </c:pt>
                <c:pt idx="8">
                  <c:v>7.0650824853164429E-2</c:v>
                </c:pt>
                <c:pt idx="9">
                  <c:v>0.18070663892364858</c:v>
                </c:pt>
                <c:pt idx="10">
                  <c:v>0.41997434161402614</c:v>
                </c:pt>
                <c:pt idx="11">
                  <c:v>0.7864477329659274</c:v>
                </c:pt>
                <c:pt idx="12">
                  <c:v>1</c:v>
                </c:pt>
                <c:pt idx="13">
                  <c:v>0.7864477329659274</c:v>
                </c:pt>
                <c:pt idx="14">
                  <c:v>0.41997434161402614</c:v>
                </c:pt>
                <c:pt idx="15">
                  <c:v>0.18070663892364858</c:v>
                </c:pt>
                <c:pt idx="16">
                  <c:v>7.0650824853164429E-2</c:v>
                </c:pt>
                <c:pt idx="17">
                  <c:v>2.6592226683160525E-2</c:v>
                </c:pt>
                <c:pt idx="18">
                  <c:v>9.8660371654402113E-3</c:v>
                </c:pt>
                <c:pt idx="19">
                  <c:v>3.6408847204874029E-3</c:v>
                </c:pt>
                <c:pt idx="20">
                  <c:v>1.3409506830258655E-3</c:v>
                </c:pt>
                <c:pt idx="21">
                  <c:v>4.9351739905945102E-4</c:v>
                </c:pt>
                <c:pt idx="22">
                  <c:v>1.8158323094386031E-4</c:v>
                </c:pt>
                <c:pt idx="23">
                  <c:v>6.6804571642542498E-5</c:v>
                </c:pt>
                <c:pt idx="24">
                  <c:v>2.4576547405286142E-5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73-4295-B8DC-A7D67B18D0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050" b="0" i="0" u="none" strike="noStrike">
                    <a:solidFill>
                      <a:srgbClr val="000000"/>
                    </a:solidFill>
                    <a:latin typeface="Arial"/>
                  </a:rPr>
                  <a:t>Input 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050" b="0" i="0" u="none" strike="noStrike">
                    <a:solidFill>
                      <a:srgbClr val="000000"/>
                    </a:solidFill>
                    <a:latin typeface="Arial"/>
                  </a:rPr>
                  <a:t>Derivative magnitude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ReLU′(x)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-4.00</c:v>
                </c:pt>
                <c:pt idx="1">
                  <c:v>-3.75</c:v>
                </c:pt>
                <c:pt idx="2">
                  <c:v>-3.50</c:v>
                </c:pt>
                <c:pt idx="3">
                  <c:v>-3.25</c:v>
                </c:pt>
                <c:pt idx="4">
                  <c:v>-3.00</c:v>
                </c:pt>
                <c:pt idx="5">
                  <c:v>-2.75</c:v>
                </c:pt>
                <c:pt idx="6">
                  <c:v>-2.50</c:v>
                </c:pt>
                <c:pt idx="7">
                  <c:v>-2.25</c:v>
                </c:pt>
                <c:pt idx="8">
                  <c:v>-2.00</c:v>
                </c:pt>
                <c:pt idx="9">
                  <c:v>-1.75</c:v>
                </c:pt>
                <c:pt idx="10">
                  <c:v>-1.50</c:v>
                </c:pt>
                <c:pt idx="11">
                  <c:v>-1.25</c:v>
                </c:pt>
                <c:pt idx="12">
                  <c:v>-1.00</c:v>
                </c:pt>
                <c:pt idx="13">
                  <c:v>-0.75</c:v>
                </c:pt>
                <c:pt idx="14">
                  <c:v>-0.50</c:v>
                </c:pt>
                <c:pt idx="15">
                  <c:v>-0.25</c:v>
                </c:pt>
                <c:pt idx="16">
                  <c:v>0.00</c:v>
                </c:pt>
                <c:pt idx="17">
                  <c:v>0.25</c:v>
                </c:pt>
                <c:pt idx="18">
                  <c:v>0.50</c:v>
                </c:pt>
                <c:pt idx="19">
                  <c:v>0.75</c:v>
                </c:pt>
                <c:pt idx="20">
                  <c:v>1.00</c:v>
                </c:pt>
                <c:pt idx="21">
                  <c:v>1.25</c:v>
                </c:pt>
                <c:pt idx="22">
                  <c:v>1.50</c:v>
                </c:pt>
                <c:pt idx="23">
                  <c:v>1.75</c:v>
                </c:pt>
                <c:pt idx="24">
                  <c:v>2.00</c:v>
                </c:pt>
                <c:pt idx="25">
                  <c:v>2.25</c:v>
                </c:pt>
                <c:pt idx="26">
                  <c:v>2.50</c:v>
                </c:pt>
                <c:pt idx="27">
                  <c:v>2.75</c:v>
                </c:pt>
                <c:pt idx="28">
                  <c:v>3.00</c:v>
                </c:pt>
                <c:pt idx="29">
                  <c:v>3.25</c:v>
                </c:pt>
                <c:pt idx="30">
                  <c:v>3.50</c:v>
                </c:pt>
                <c:pt idx="31">
                  <c:v>3.75</c:v>
                </c:pt>
                <c:pt idx="32">
                  <c:v>4.00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B3-4305-B4D8-16B6CBE8CE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Leaky ReLU′(x)  (α=0.01)</c:v>
                </c:pt>
              </c:strCache>
            </c:strRef>
          </c:tx>
          <c:spPr>
            <a:ln w="31750" cap="flat">
              <a:solidFill>
                <a:srgbClr val="D69E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-4.00</c:v>
                </c:pt>
                <c:pt idx="1">
                  <c:v>-3.75</c:v>
                </c:pt>
                <c:pt idx="2">
                  <c:v>-3.50</c:v>
                </c:pt>
                <c:pt idx="3">
                  <c:v>-3.25</c:v>
                </c:pt>
                <c:pt idx="4">
                  <c:v>-3.00</c:v>
                </c:pt>
                <c:pt idx="5">
                  <c:v>-2.75</c:v>
                </c:pt>
                <c:pt idx="6">
                  <c:v>-2.50</c:v>
                </c:pt>
                <c:pt idx="7">
                  <c:v>-2.25</c:v>
                </c:pt>
                <c:pt idx="8">
                  <c:v>-2.00</c:v>
                </c:pt>
                <c:pt idx="9">
                  <c:v>-1.75</c:v>
                </c:pt>
                <c:pt idx="10">
                  <c:v>-1.50</c:v>
                </c:pt>
                <c:pt idx="11">
                  <c:v>-1.25</c:v>
                </c:pt>
                <c:pt idx="12">
                  <c:v>-1.00</c:v>
                </c:pt>
                <c:pt idx="13">
                  <c:v>-0.75</c:v>
                </c:pt>
                <c:pt idx="14">
                  <c:v>-0.50</c:v>
                </c:pt>
                <c:pt idx="15">
                  <c:v>-0.25</c:v>
                </c:pt>
                <c:pt idx="16">
                  <c:v>0.00</c:v>
                </c:pt>
                <c:pt idx="17">
                  <c:v>0.25</c:v>
                </c:pt>
                <c:pt idx="18">
                  <c:v>0.50</c:v>
                </c:pt>
                <c:pt idx="19">
                  <c:v>0.75</c:v>
                </c:pt>
                <c:pt idx="20">
                  <c:v>1.00</c:v>
                </c:pt>
                <c:pt idx="21">
                  <c:v>1.25</c:v>
                </c:pt>
                <c:pt idx="22">
                  <c:v>1.50</c:v>
                </c:pt>
                <c:pt idx="23">
                  <c:v>1.75</c:v>
                </c:pt>
                <c:pt idx="24">
                  <c:v>2.00</c:v>
                </c:pt>
                <c:pt idx="25">
                  <c:v>2.25</c:v>
                </c:pt>
                <c:pt idx="26">
                  <c:v>2.50</c:v>
                </c:pt>
                <c:pt idx="27">
                  <c:v>2.75</c:v>
                </c:pt>
                <c:pt idx="28">
                  <c:v>3.00</c:v>
                </c:pt>
                <c:pt idx="29">
                  <c:v>3.25</c:v>
                </c:pt>
                <c:pt idx="30">
                  <c:v>3.50</c:v>
                </c:pt>
                <c:pt idx="31">
                  <c:v>3.75</c:v>
                </c:pt>
                <c:pt idx="32">
                  <c:v>4.00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0.08</c:v>
                </c:pt>
                <c:pt idx="1">
                  <c:v>0.08</c:v>
                </c:pt>
                <c:pt idx="2">
                  <c:v>0.08</c:v>
                </c:pt>
                <c:pt idx="3">
                  <c:v>0.08</c:v>
                </c:pt>
                <c:pt idx="4">
                  <c:v>0.08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0.08</c:v>
                </c:pt>
                <c:pt idx="9">
                  <c:v>0.08</c:v>
                </c:pt>
                <c:pt idx="10">
                  <c:v>0.08</c:v>
                </c:pt>
                <c:pt idx="11">
                  <c:v>0.08</c:v>
                </c:pt>
                <c:pt idx="12">
                  <c:v>0.08</c:v>
                </c:pt>
                <c:pt idx="13">
                  <c:v>0.08</c:v>
                </c:pt>
                <c:pt idx="14">
                  <c:v>0.08</c:v>
                </c:pt>
                <c:pt idx="15">
                  <c:v>0.08</c:v>
                </c:pt>
                <c:pt idx="16">
                  <c:v>0.08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B3-4305-B4D8-16B6CBE8CE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050" b="0" i="0" u="none" strike="noStrike">
                    <a:solidFill>
                      <a:srgbClr val="000000"/>
                    </a:solidFill>
                    <a:latin typeface="Arial"/>
                  </a:rPr>
                  <a:t>Input x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050" b="0" i="0" u="none" strike="noStrike">
                    <a:solidFill>
                      <a:srgbClr val="000000"/>
                    </a:solidFill>
                    <a:latin typeface="Arial"/>
                  </a:rPr>
                  <a:t>Derivative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74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77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8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38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51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33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75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999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148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720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24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14B7A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39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· Step · Sigmoid · Tanh · ReLU · Leaky ReLU · Softmax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their gradients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17A3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Neural Networks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Probable Questions for M1 from this Topic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4672" y="171907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63039" y="1691639"/>
            <a:ext cx="9484593" cy="4205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Deep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38848" y="169164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Separability is the Litmus Test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" y="36850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38848" y="365760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Modern Hardware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4250ED-FEED-4846-A965-A9AACA1143BC}"/>
              </a:ext>
            </a:extLst>
          </p:cNvPr>
          <p:cNvSpPr txBox="1"/>
          <p:nvPr/>
        </p:nvSpPr>
        <p:spPr>
          <a:xfrm>
            <a:off x="804672" y="1384183"/>
            <a:ext cx="10609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Analyze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role of activation functions in a neural network. Compare the Sigmoid and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ReLU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activation functions with respect to the vanishing gradient problem.</a:t>
            </a:r>
          </a:p>
          <a:p>
            <a:pPr marL="342900" indent="-342900"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Compare the Tanh and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ReLU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activation functions in terms of (a) output range, (b) zero-centeredness and its effect on gradient descent convergence, and (c) susceptibility to the vanishing gradient problem.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role of activation functions in a neural network. What would happen if a deep network used only linear activation functions?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why Sign and Step functions, despite being historically important, cannot be used in modern gradient-descent-trained networks.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"dying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problem? How does Leaky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it, and what new hyperparameter does this introduce?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Tanh generally preferred over Sigmoid for hidden layers in RNNs, despite both suffering from saturation?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why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outputs a full Jacobian matrix for its gradient rather than a single scalar per element, unlike Sigmoid.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 the rule of thumb: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/Leaky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hidden layers, Sigmoid for binary output,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multi-class output, Tanh for RNNs."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592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Probable Questions for M1 from this Topic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4672" y="171907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63039" y="1691639"/>
            <a:ext cx="9484593" cy="4205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Deep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38848" y="169164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Separability is the Litmus Test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" y="36850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38848" y="365760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Modern Hardware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4250ED-FEED-4846-A965-A9AACA1143BC}"/>
              </a:ext>
            </a:extLst>
          </p:cNvPr>
          <p:cNvSpPr txBox="1"/>
          <p:nvPr/>
        </p:nvSpPr>
        <p:spPr>
          <a:xfrm>
            <a:off x="804672" y="1384183"/>
            <a:ext cx="1060978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the gradient of the Sigmoid function starting from f(x) = 1/(1+e⁻ˣ), and show that it can be expressed purely in terms of f(x) itself.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Derive the gradient of the Tanh function starting from f(x) =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eˣ−e⁻ˣ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eˣ+e⁻ˣ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show f′(x) = 1 − f(x)².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Show mathematically why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Sigmoid's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maximum possible gradient is exactly 0.25 and occurs at x = 0.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Derive the partial derivative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∂sᵢ/∂zⱼ, for both the i = j and i ≠ j cases. Derive the partial derivative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∂sᵢ/∂zⱼ, for both the i = j and i ≠ j cases.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the Sign, Step, Sigmoid, Tanh,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Leaky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functions along with their output ranges.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the derivative (piecewise, where applicable) of each of the seven activation functions.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meant by "saturation" of an activation function?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must the gradient of the loss function be non-zero for learning to occur?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17. What numerical stabilization trick is used when computing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practice, and why is it needed?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f(x) = x² − 4x + 6, x₀ = 0, η = 0.1, compute 4–5 iterations of gradient descent and state the value x converges to.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J(θ) = θ², θ₀ = 5, η = 0.3. Compute θ₁ through θ₄ and comment on the convergence pattern.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single sigmoid neuron with x = 0.5, w = 0.4, b = 0.1, target t = 1, η = 0.5: perform one forward pass and one backward pass, and compute the updated weight and bias.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69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Activation Functions?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non-linearity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496312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stacking layers collapses to one linear transform — a network could never learn curves, boundaries, or complex patterns.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130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0756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neuron output range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2496312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Squash, clip, or shape the weighted sum z = Wx + b into a value the next layer can use.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416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3616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gradient-based 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782312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derivative f'(x) is what backpropagation multiplies through the chain rule — its shape decides whether learning is fast, slow, or stalls.</a:t>
            </a:r>
            <a:endParaRPr lang="en-US" sz="1250" dirty="0">
              <a:highlight>
                <a:srgbClr val="FFFF00"/>
              </a:highlight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41605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4165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3616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task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4782312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4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favor ReLU-family functions; output layers use Sigmoid (binary) or Softmax (multi-class).</a:t>
            </a:r>
            <a:endParaRPr lang="en-US" sz="1250" dirty="0">
              <a:highlight>
                <a:srgbClr val="FFFF00"/>
              </a:highlight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FAMILY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Function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Signum function — outputs the sign of the 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+1, x &gt; 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 0, x = 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-1, x &lt; 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17A39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788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   (undefined at x = 0)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{-1, 0, +1}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Discontinuous at x = 0 — not differentiable there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is 0 almost everywhere ⇒ gradient carries no learning signal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used in early perceptrons for binary classification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in modern gradient-descent-trained networks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989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perceptron models (pre-backpropagation era)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7" name="Image 0" descr="/home/claude/actfn/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40"/>
            <a:ext cx="502920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89320" y="5577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93A0"/>
                </a:solidFill>
              </a:rPr>
              <a:t>f(x) — navy      f'(x) — amber (dashed)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FAMILY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(Heaviside) Function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unit-step activation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1, x ≥ 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0, x &lt; 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17A39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788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   (undefined at x = 0)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{0, 1}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threshold — mimics a biological neuron firing or not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gradient everywhere except an undefined jump at x = 0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trained with gradient descent / backpropagation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a conceptual / illustrative activation today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989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neuron, simple threshold logic gates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7" name="Image 0" descr="/home/claude/actfn/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40"/>
            <a:ext cx="502920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89320" y="5577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93A0"/>
                </a:solidFill>
              </a:rPr>
              <a:t>f(x) — navy      f'(x) — amber (dashed)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SQUASHING FAMILY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(Logistic) Function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S-shaped squashing function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 / (1 + e^(-x))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17A39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788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· (1 - f(x))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and differentiable everywhere — clean gradient signal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gradient is only 0.25, at x = 0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Saturates for |x| large ⇒ vanishing gradient in deep nets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not zero-centered, which can slow convergence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989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output layer, gates in LSTM/GRU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7" name="Image 0" descr="/home/claude/actfn/sigm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40"/>
            <a:ext cx="502920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89320" y="5577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93A0"/>
                </a:solidFill>
              </a:rPr>
              <a:t>f(x) — navy      f'(x) — amber (dashed)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SQUASHING FAMILY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(Hyperbolic Tangent)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 S-shaped squashing function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(e^x - e^-x) / (e^x + e^-x)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17A39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788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1 - f(x)²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(-1, 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 output ⇒ generally faster convergence than sigmoid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gradient is 1.0, at x = 0 — stronger signal than sigmoid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saturates for large |x| ⇒ vanishing gradient possible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choice for RNN hidden states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989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 hidden activations, normalized hidden layers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7" name="Image 0" descr="/home/claude/actfn/t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40"/>
            <a:ext cx="502920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89320" y="5577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93A0"/>
                </a:solidFill>
              </a:rPr>
              <a:t>f(x) — navy      f'(x) — amber (dashed)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PIECEWISE-LINEAR FAMILY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(Rectified Linear Unit)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hidden-layer activation in modern deep nets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max(0, x)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17A39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788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1, x &gt; 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0, x &lt; 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∞)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cheap — just a threshold at zero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 for x &gt; 0 ⇒ mitigates vanishing gradient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“Dying ReLU”: a neuron with x &lt; 0 always has zero gradient and can stop learning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zero-centered; gradient undefined at x = 0 (set to 0 by convention)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989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hidden layers in CNNs, MLPs, most feed-forward nets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7" name="Image 0" descr="/home/claude/actfn/r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40"/>
            <a:ext cx="502920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89320" y="5577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93A0"/>
                </a:solidFill>
              </a:rPr>
              <a:t>f(x) — navy      f'(x) — amber (dashed)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PIECEWISE-LINEAR FAMILY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variant that fixes the dying-neuron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x,       x &gt; 0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αx,      x ≤ 0   (α ≈ 0.01)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17A39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7889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1,  x &gt; 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α,  x ≤ 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(-∞, ∞)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5074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non-zero slope α for x &lt; 0 keeps gradients alive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neurons from permanently “dying” during training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a fixed hyperparameter (Parametric ReLU learns it instead)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expensive than plain ReLU, still very cheap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989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CNNs / GANs where dying ReLU hurts training stability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7" name="Image 0" descr="/home/claude/actfn/leaky_r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40"/>
            <a:ext cx="502920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89320" y="5577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93A0"/>
                </a:solidFill>
              </a:rPr>
              <a:t>f(x) — navy      f'(x) — amber (dashed)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Function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vector of logits into a probability 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softmax(zᵢ) =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8745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e^zᵢ  /  Σⱼ e^zⱼ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7A39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03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∂sᵢ/∂zⱼ =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28803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sᵢ(1 - sᵢ),        i = j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{  -sᵢ sⱼ,             i ≠ j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 per element, all elements sum to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407408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sigmoid to multiple classes — a full probability vector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is a full Jacobian matrix, not a single scalar per element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stabilized in practice by subtracting max(z) before exponentiating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cross-entropy loss for a clean gradient: (softmax − target)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989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 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output layer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7" name="Image 0" descr="/home/claude/actfn/soft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48840"/>
            <a:ext cx="5029200" cy="3337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89320" y="5577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93A0"/>
                </a:solidFill>
              </a:rPr>
              <a:t>Example: 5 logits → softmax probabilities (sum = 1.00)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— The Core Idea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network actually uses f'(x) to learn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t+1  =  θt  -  η · ∇L(θt)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A39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  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parameter being learned (a weight or bias)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A39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  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— how big a step to take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A39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∇L(θ)  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of the loss — the same f'(x) from the earlier slides, via the chain rule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opposite the gradient — it points toward steepest increase, so subtracting it descends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gradient is ~0 — that's a minimum (local or global)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f'(x) computed earlier in this deck feeds directly into ∇L(θ) here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1920240"/>
            <a:ext cx="5669280" cy="4114800"/>
          </a:xfrm>
          <a:prstGeom prst="roundRect">
            <a:avLst>
              <a:gd name="adj" fmla="val 2222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4" name="Image 0" descr="/home/claude/actfn/gd_bo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48840"/>
            <a:ext cx="5120640" cy="3337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89320" y="5577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93A0"/>
                </a:solidFill>
              </a:rPr>
              <a:t>Each step moves downhill along the loss surface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Gradient Descent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only in how much data is used per update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0B3D5C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48840"/>
            <a:ext cx="3611880" cy="2286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5328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training 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107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6667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update per epoch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2885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5445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accurate gradient direction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1663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4223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memory-heavy on large datasets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187452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87452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17A398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0" y="2148840"/>
            <a:ext cx="3611880" cy="228600"/>
          </a:xfrm>
          <a:prstGeom prst="rect">
            <a:avLst/>
          </a:prstGeom>
          <a:solidFill>
            <a:srgbClr val="17A398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1874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GD (SGD)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9160" y="25328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2788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sample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4107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09160" y="36667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update per sample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42885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09160" y="45445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escapes shallow local minima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51663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09160" y="54223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path, can overshoot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0" y="1874520"/>
            <a:ext cx="3611880" cy="4343400"/>
          </a:xfrm>
          <a:prstGeom prst="roundRect">
            <a:avLst>
              <a:gd name="adj" fmla="val 2532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0" y="1874520"/>
            <a:ext cx="3611880" cy="502920"/>
          </a:xfrm>
          <a:prstGeom prst="roundRect">
            <a:avLst>
              <a:gd name="adj" fmla="val 18182"/>
            </a:avLst>
          </a:prstGeom>
          <a:solidFill>
            <a:srgbClr val="E8965B"/>
          </a:solidFill>
          <a:ln/>
        </p:spPr>
      </p:sp>
      <p:sp>
        <p:nvSpPr>
          <p:cNvPr id="32" name="Shape 30"/>
          <p:cNvSpPr/>
          <p:nvPr/>
        </p:nvSpPr>
        <p:spPr>
          <a:xfrm>
            <a:off x="8412480" y="2148840"/>
            <a:ext cx="3611880" cy="228600"/>
          </a:xfrm>
          <a:prstGeom prst="rect">
            <a:avLst/>
          </a:prstGeom>
          <a:solidFill>
            <a:srgbClr val="E8965B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1874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41080" y="25328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41080" y="2788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 (e.g. 32–256)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41080" y="341071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Updates: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41080" y="36667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update per batch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41080" y="42885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641080" y="45445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speed and stability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41080" y="51663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641080" y="54223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is an extra hyperparameter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Learning Rate (η)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f(θ) = θ² from θ0 = 4, for three choices of 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94560"/>
            <a:ext cx="594360" cy="73152"/>
          </a:xfrm>
          <a:prstGeom prst="roundRect">
            <a:avLst>
              <a:gd name="adj" fmla="val 50000"/>
            </a:avLst>
          </a:prstGeom>
          <a:solidFill>
            <a:srgbClr val="114B7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00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too small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67919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are tiny — the loss decreases, but training takes far more iterations than necessary.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520440"/>
            <a:ext cx="594360" cy="73152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758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just right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00507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quickly and smoothly to the minimum in a handful of steps.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0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846320"/>
            <a:ext cx="594360" cy="73152"/>
          </a:xfrm>
          <a:prstGeom prst="roundRect">
            <a:avLst>
              <a:gd name="adj" fmla="val 50000"/>
            </a:avLst>
          </a:prstGeom>
          <a:solidFill>
            <a:srgbClr val="E896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017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too large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33095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overshoots the minimum. The oscillation grows instead of shrinking — the loss diverges.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9320" y="1965960"/>
            <a:ext cx="5669280" cy="4023360"/>
          </a:xfrm>
          <a:prstGeom prst="roundRect">
            <a:avLst>
              <a:gd name="adj" fmla="val 2273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19" name="Image 0" descr="/home/claude/actfn/gd_learning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94560"/>
            <a:ext cx="5120640" cy="33375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Watch It Converge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J(θ) = θ²,  θ0 = 5,  η = 0.3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1920240"/>
          <a:ext cx="5349240" cy="30632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∇J = 2θt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θt+1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J(θt) = θt²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5.000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10.000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2.000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25.000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2.000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4.000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0.800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4.000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0.800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1.600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0.320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0.640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0.320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0.640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0.128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0.102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0.128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0.256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0.051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0.016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920240"/>
            <a:ext cx="553212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8" name="Image 0" descr="/home/claude/actfn/activity_conv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8840"/>
            <a:ext cx="4983480" cy="3474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2578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0F6F9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5257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J(θ) shrinks fast at first, then flattens as θ nears 0 — the gradient itself shrinks, so steps get smaller near the minimum.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23410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Converge to the Minimum — Together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Minimize  </a:t>
            </a:r>
            <a:r>
              <a:rPr lang="en-US" sz="15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J(θ) = θ²      </a:t>
            </a: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θ0 = 5      η = 0.3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59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2951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class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56946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compute ∇J(θ) = 2θ out loud — straight from the power rule.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4472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student, 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6576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θt+1 = θt - η·2θt to find θ1 from θ0 = 5. Class verifies the arithmetic together.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416552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354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4714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room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47457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computes iteration 2 (θ2). Group B computes iteration 3 (θ3). Compare answers on the board.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5504688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5623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55595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together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8338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J(θ) vs. iteration number and watch the curve shrink toward zero — that's convergence.</a:t>
            </a:r>
            <a:endParaRPr lang="en-US" sz="108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6309360" y="2240280"/>
          <a:ext cx="5330952" cy="2743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∇J = 2θt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θt+1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5.000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10.000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2.000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309360" y="5166360"/>
            <a:ext cx="5330952" cy="868680"/>
          </a:xfrm>
          <a:prstGeom prst="roundRect">
            <a:avLst>
              <a:gd name="adj" fmla="val 8421"/>
            </a:avLst>
          </a:prstGeom>
          <a:solidFill>
            <a:srgbClr val="F0F6F9"/>
          </a:solidFill>
          <a:ln/>
        </p:spPr>
      </p:sp>
      <p:sp>
        <p:nvSpPr>
          <p:cNvPr id="27" name="Text 26"/>
          <p:cNvSpPr/>
          <p:nvPr/>
        </p:nvSpPr>
        <p:spPr>
          <a:xfrm>
            <a:off x="6446520" y="516636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table is complete, sketch J(θ) on the y-axis against iteration t on the x-axis. What shape does the class expect before drawing it?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Watch It Converge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J(θ) = θ²,  θ0 = 5,  η = 0.3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548640" y="1920240"/>
          <a:ext cx="5349240" cy="30632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∇J = 2θt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θt+1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J(θt) = θt²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5.000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10.000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2.000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25.000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2.000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4.000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0.800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4.000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0.800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1.600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0.320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0.640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0.320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0.640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0.128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0.102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0.128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0.256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A398"/>
                          </a:solidFill>
                        </a:rPr>
                        <a:t>0.051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0.016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920240"/>
            <a:ext cx="553212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8" name="Image 0" descr="/home/claude/actfn/activity_conv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8840"/>
            <a:ext cx="4983480" cy="3474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2578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0F6F9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5257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J(θ) shrinks fast at first, then flattens as θ nears 0 — the gradient itself shrinks, so steps get smaller near the minimum.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76514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Converge to the Minimum — Together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Minimize  </a:t>
            </a:r>
            <a:r>
              <a:rPr lang="en-US" sz="15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J(θ) = θ²      </a:t>
            </a: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θ0 = 5      η = 0.3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59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2951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class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56946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compute ∇J(θ) = 2θ out loud — straight from the power rule.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4472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student, 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6576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θt+1 = θt - η·2θt to find θ1 from θ0 = 5. Class verifies the arithmetic together.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416552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5354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4714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room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474573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computes iteration 2 (θ2). Group B computes iteration 3 (θ3). Compare answers on the board.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5504688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5623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55595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together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8338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J(θ) vs. iteration number and watch the curve shrink toward zero — that's convergence.</a:t>
            </a:r>
            <a:endParaRPr lang="en-US" sz="108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6309360" y="2240280"/>
          <a:ext cx="5330952" cy="2743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∇J = 2θt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θt+1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5.000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10.000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2.000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965B"/>
                          </a:solidFill>
                        </a:rPr>
                        <a:t>?</a:t>
                      </a:r>
                      <a:endParaRPr lang="en-US" sz="1250" dirty="0"/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309360" y="5166360"/>
            <a:ext cx="5330952" cy="868680"/>
          </a:xfrm>
          <a:prstGeom prst="roundRect">
            <a:avLst>
              <a:gd name="adj" fmla="val 8421"/>
            </a:avLst>
          </a:prstGeom>
          <a:solidFill>
            <a:srgbClr val="F0F6F9"/>
          </a:solidFill>
          <a:ln/>
        </p:spPr>
      </p:sp>
      <p:sp>
        <p:nvSpPr>
          <p:cNvPr id="29" name="Text 26"/>
          <p:cNvSpPr/>
          <p:nvPr/>
        </p:nvSpPr>
        <p:spPr>
          <a:xfrm>
            <a:off x="6446520" y="516636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table is complete, sketch J(θ) on the y-axis against iteration t on the x-axis. What shape does the class expect before drawing it?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14789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Try η = 1.1 — What Happens?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same steps — only the learning rate changes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548640" y="1920240"/>
          <a:ext cx="5349240" cy="306324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∇J = 2θt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θt+1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J(θt) = θt²</a:t>
                      </a:r>
                      <a:endParaRPr lang="en-US" sz="12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5.000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10.000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701F"/>
                          </a:solidFill>
                        </a:rPr>
                        <a:t>-6.000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25.000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-6.000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-12.000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701F"/>
                          </a:solidFill>
                        </a:rPr>
                        <a:t>7.200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36.000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7.200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14.400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701F"/>
                          </a:solidFill>
                        </a:rPr>
                        <a:t>-8.640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51.840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-8.640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-17.280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701F"/>
                          </a:solidFill>
                        </a:rPr>
                        <a:t>10.368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74.650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10.368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20.736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701F"/>
                          </a:solidFill>
                        </a:rPr>
                        <a:t>-12.442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107.485</a:t>
                      </a:r>
                      <a:endParaRPr lang="en-US" sz="1150" dirty="0"/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920240"/>
            <a:ext cx="553212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8" name="Image 0" descr="/home/claude/actfn/activity_div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8840"/>
            <a:ext cx="4983480" cy="3474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2578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0F6F9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5257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back:  </a:t>
            </a: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flips sign and grows every step — this is exactly the "η too large" case from Section 4. |1 - 2η| &gt; 1 guarantees divergence.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4264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NUMERICAL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Minimizing a Quadratic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x² - 4x + 6      </a:t>
            </a:r>
            <a:r>
              <a:rPr lang="en-US" sz="15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 2x - 4      </a:t>
            </a: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x₀ = 0      η = 0.1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2788919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f'(xt) = 2xt - 4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xt+1 = xt - η·f'(xt)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0.000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-4.000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</a:rPr>
                        <a:t>0.400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0.400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-3.200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</a:rPr>
                        <a:t>0.720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0.720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-2.560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</a:rPr>
                        <a:t>0.976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0.976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-2.048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</a:rPr>
                        <a:t>1.181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1.181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-1.638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</a:rPr>
                        <a:t>1.345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3D5C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1.345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B34"/>
                          </a:solidFill>
                        </a:rPr>
                        <a:t>-1.311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7A398"/>
                          </a:solidFill>
                        </a:rPr>
                        <a:t>1.476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1663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0F6F9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shrinks the distance to the minimum by a factor of (1 - 2η) = 0.8, so xt → 2 as t → ∞ — exactly where f'(x) = 0 and f(x) reaches its minimum value of 2.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NUMERICAL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Backprop Weight Update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sigmoid neuron: x = 0.5, w = 0.4, b = 0.1, target t = 1, η = 0.5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FORWARD PASS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wx + b = 0.4(0.5) + 0.1 = 0.300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σ(z) = 1/(1+e^-0.3) = 0.5744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½(t - y)² = ½(1 - 0.5744)² = 0.0905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394960" cy="2423160"/>
          </a:xfrm>
          <a:prstGeom prst="roundRect">
            <a:avLst>
              <a:gd name="adj" fmla="val 3774"/>
            </a:avLst>
          </a:prstGeom>
          <a:solidFill>
            <a:srgbClr val="F0F6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BACKWARD PASS (CHAIN RULE)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∂L/∂y = -(t - y) = -0.4256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∂y/∂z = y(1-y) = 0.5744(0.4256) = 0.2445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∂z/∂w = x = 0.500        ∂z/∂b = 1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 = ∂L/∂y · ∂y/∂z · ∂z/∂w = -0.0520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∂L/∂b = ∂L/∂y · ∂y/∂z · ∂z/∂b = -0.1041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0B3D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UPDATE THE WEIGHT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w_new = w - η·∂L/∂w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0.4 - 0.5(-0.0520) = 0.4260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b_new = b - η·∂L/∂b = 0.1 - 0.5(-0.1041) = 0.1520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42519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increased because the neuron under-predicted (y &lt; t) and x was positive — nudging w up raises z, raising y toward the target.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single-neuron update is exactly what happens, per weight, across every layer of a full network.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Neuron We're Training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neuron as Example 2 — we'll now walk through every computation one step at a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x = 0.5      w = 0.4      b = 0.1      t = 1      η = 0.5      —      sigmoid activation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628900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52160" y="2628900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06640" y="2628900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237744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3774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w,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37744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3774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37744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3774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377440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3774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47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0.5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813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signal fed into the neuron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33756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4472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0.4, b = 0.1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3813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trainable parameters — what gradient descent will adjust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498848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085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= 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97433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target this neuron should learn to predict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498848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6085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 = 0.5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497433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— how big each update step will be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B3D5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5321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find w_new and b_new that make the neuron's prediction closer to t = 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05376" y="6208776"/>
            <a:ext cx="292608" cy="292608"/>
          </a:xfrm>
          <a:prstGeom prst="ellipse">
            <a:avLst/>
          </a:prstGeom>
          <a:solidFill>
            <a:srgbClr val="17A398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89424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5" name="Shape 33"/>
          <p:cNvSpPr/>
          <p:nvPr/>
        </p:nvSpPr>
        <p:spPr>
          <a:xfrm>
            <a:off x="537347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6" name="Shape 34"/>
          <p:cNvSpPr/>
          <p:nvPr/>
        </p:nvSpPr>
        <p:spPr>
          <a:xfrm>
            <a:off x="5757520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7" name="Shape 35"/>
          <p:cNvSpPr/>
          <p:nvPr/>
        </p:nvSpPr>
        <p:spPr>
          <a:xfrm>
            <a:off x="6141568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8" name="Shape 36"/>
          <p:cNvSpPr/>
          <p:nvPr/>
        </p:nvSpPr>
        <p:spPr>
          <a:xfrm>
            <a:off x="6525616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9" name="Shape 37"/>
          <p:cNvSpPr/>
          <p:nvPr/>
        </p:nvSpPr>
        <p:spPr>
          <a:xfrm>
            <a:off x="6909664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40" name="Shape 38"/>
          <p:cNvSpPr/>
          <p:nvPr/>
        </p:nvSpPr>
        <p:spPr>
          <a:xfrm>
            <a:off x="729371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Linear Combination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the input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x = 0.5      w = 0.4      b = 0.1      t = 1      η = 0.5      —      sigmoid activation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5216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0664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17A398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w,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17A39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712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wx + b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32186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0.4(0.5) + 0.1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= 0.300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STEP DOES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6451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input x with the weight w and bias b into a single raw number z.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the neuron's “raw signal” before any squashing — it can be any real number.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z = Wx + b you've seen throughout this deck feeding into every activation function.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537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9424" y="6208776"/>
            <a:ext cx="292608" cy="292608"/>
          </a:xfrm>
          <a:prstGeom prst="ellipse">
            <a:avLst/>
          </a:prstGeom>
          <a:solidFill>
            <a:srgbClr val="17A398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7347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0" name="Shape 28"/>
          <p:cNvSpPr/>
          <p:nvPr/>
        </p:nvSpPr>
        <p:spPr>
          <a:xfrm>
            <a:off x="5757520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1568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2" name="Shape 30"/>
          <p:cNvSpPr/>
          <p:nvPr/>
        </p:nvSpPr>
        <p:spPr>
          <a:xfrm>
            <a:off x="6525616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3" name="Shape 31"/>
          <p:cNvSpPr/>
          <p:nvPr/>
        </p:nvSpPr>
        <p:spPr>
          <a:xfrm>
            <a:off x="6909664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729371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Apply the Activation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z into a usable output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x = 0.5      w = 0.4      b = 0.1      t = 1      η = 0.5      —      sigmoid activation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5216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0664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w,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17A39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17A398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712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σ(z) = 1 / (1 + e⁻ᶻ)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32186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1 / (1 + e⁻⁰·³)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0.5744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STEP DOES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6451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squashes z = 0.3 into the range (0, 1) — a value we can interpret as a prediction.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0.5744 is the neuron's current guess. The target is t = 1, so the neuron is currently under-predicting.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 will be reused directly in Step 5's gradient — no need to recompute it during backprop.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537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9424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9" name="Shape 27"/>
          <p:cNvSpPr/>
          <p:nvPr/>
        </p:nvSpPr>
        <p:spPr>
          <a:xfrm>
            <a:off x="5373472" y="6208776"/>
            <a:ext cx="292608" cy="292608"/>
          </a:xfrm>
          <a:prstGeom prst="ellipse">
            <a:avLst/>
          </a:prstGeom>
          <a:solidFill>
            <a:srgbClr val="17A398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57520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1568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2" name="Shape 30"/>
          <p:cNvSpPr/>
          <p:nvPr/>
        </p:nvSpPr>
        <p:spPr>
          <a:xfrm>
            <a:off x="6525616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3" name="Shape 31"/>
          <p:cNvSpPr/>
          <p:nvPr/>
        </p:nvSpPr>
        <p:spPr>
          <a:xfrm>
            <a:off x="6909664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729371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Compute the Loss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wrong is the prediction?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x = 0.5      w = 0.4      b = 0.1      t = 1      η = 0.5      —      sigmoid activation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5216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06640" y="2336292"/>
            <a:ext cx="502920" cy="0"/>
          </a:xfrm>
          <a:prstGeom prst="line">
            <a:avLst/>
          </a:prstGeom>
          <a:noFill/>
          <a:ln w="22225">
            <a:solidFill>
              <a:srgbClr val="7C93A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w,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17A398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17A398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ERROR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712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½(t - y)²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32186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½(1 - 0.5744)²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0.0905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STEP DOES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6451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prediction y to the true target t and turns the gap into a single non-negative number.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0.0905 is the value gradient descent will try to shrink toward 0 — this is “J(θ)” from the earlier gradient descent slides, now with a real neuron behind it.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gaps between y and t produce a larger loss, which (as we'll see) produces a larger gradient.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537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9424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9" name="Shape 27"/>
          <p:cNvSpPr/>
          <p:nvPr/>
        </p:nvSpPr>
        <p:spPr>
          <a:xfrm>
            <a:off x="5373472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57520" y="6208776"/>
            <a:ext cx="292608" cy="292608"/>
          </a:xfrm>
          <a:prstGeom prst="ellipse">
            <a:avLst/>
          </a:prstGeom>
          <a:solidFill>
            <a:srgbClr val="17A398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1568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2" name="Shape 30"/>
          <p:cNvSpPr/>
          <p:nvPr/>
        </p:nvSpPr>
        <p:spPr>
          <a:xfrm>
            <a:off x="6525616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3" name="Shape 31"/>
          <p:cNvSpPr/>
          <p:nvPr/>
        </p:nvSpPr>
        <p:spPr>
          <a:xfrm>
            <a:off x="6909664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729371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Loss Gradient ∂L/∂y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 changes if y changes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x = 0.5      w = 0.4      b = 0.1      t = 1      η = 0.5      —      sigmoid activation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85216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0664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4612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w,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896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8965B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712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∂L/∂y = -(t - y)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32186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∂L/∂y = -(1 - 0.5744)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∂L/∂y = -0.4256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STEP DOES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6451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step of backpropagation — we now move backward through the network, computing one local derivative at a time.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sign means: increasing y would decrease L — which makes sense, since the neuron is currently under-predicting.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value alone doesn't touch w yet — it still has to pass through the activation function's own gradient next.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537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9424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9" name="Shape 27"/>
          <p:cNvSpPr/>
          <p:nvPr/>
        </p:nvSpPr>
        <p:spPr>
          <a:xfrm>
            <a:off x="5373472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57520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1568" y="6208776"/>
            <a:ext cx="292608" cy="292608"/>
          </a:xfrm>
          <a:prstGeom prst="ellipse">
            <a:avLst/>
          </a:prstGeom>
          <a:solidFill>
            <a:srgbClr val="17A398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25616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3" name="Shape 31"/>
          <p:cNvSpPr/>
          <p:nvPr/>
        </p:nvSpPr>
        <p:spPr>
          <a:xfrm>
            <a:off x="6909664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729371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Activation Gradient ∂y/∂z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 changes if z changes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x = 0.5      w = 0.4      b = 0.1      t = 1      η = 0.5      —      sigmoid activation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85216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0664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4612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w,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8965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8965B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712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∂y/∂z = y(1 - y)          [sigmoid'(z) from earlier slides]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32186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∂y/∂z = 0.5744(1 - 0.5744)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∂y/∂z = 0.2445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STEP DOES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6451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sigmoid derivative f'(x) = f(x)(1-f(x)) derived earlier in this deck — now plugged into a real backward pass.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0.2445 is close to sigmoid's maximum possible gradient of 0.25, since z = 0.3 is near the center of the curve, not in a saturated tail.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z were far from 0 (deep in the sigmoid's flat regions), this value would shrink toward 0 and choke the gradient — see the earlier “saturated gradient” comparison.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537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9424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9" name="Shape 27"/>
          <p:cNvSpPr/>
          <p:nvPr/>
        </p:nvSpPr>
        <p:spPr>
          <a:xfrm>
            <a:off x="5373472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57520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1568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2" name="Shape 30"/>
          <p:cNvSpPr/>
          <p:nvPr/>
        </p:nvSpPr>
        <p:spPr>
          <a:xfrm>
            <a:off x="6525616" y="6208776"/>
            <a:ext cx="292608" cy="292608"/>
          </a:xfrm>
          <a:prstGeom prst="ellipse">
            <a:avLst/>
          </a:prstGeom>
          <a:solidFill>
            <a:srgbClr val="17A398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9664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729371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Chain Rule: Weight &amp; Bias Gradients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local derivatives together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x = 0.5      w = 0.4      b = 0.1      t = 1      η = 0.5      —      sigmoid activation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85216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0664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4612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8965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w,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8965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712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 = ∂L/∂y · ∂y/∂z · ∂z/∂w          ∂L/∂b = ∂L/∂y · ∂y/∂z · ∂z/∂b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32186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 = (-0.4256)(0.2445)(0.5)          ∂L/∂b = (-0.4256)(0.2445)(1)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 = -0.0520          ∂L/∂b = -0.1041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STEP DOES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6451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chain rule in action — three local derivatives from Steps 4 and 5, multiplied together with ∂z/∂w = x and ∂z/∂b = 1.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gradient in this deck, from the sigmoid derivation to this neuron, feeds into a product exactly like this one.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∂L/∂b is larger than ∂L/∂w simply because ∂z/∂b = 1 while ∂z/∂w = x = 0.5 — a smaller input means a smaller share of the gradient reaches that weight.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537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9424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9" name="Shape 27"/>
          <p:cNvSpPr/>
          <p:nvPr/>
        </p:nvSpPr>
        <p:spPr>
          <a:xfrm>
            <a:off x="5373472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57520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1568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2" name="Shape 30"/>
          <p:cNvSpPr/>
          <p:nvPr/>
        </p:nvSpPr>
        <p:spPr>
          <a:xfrm>
            <a:off x="652561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3" name="Shape 31"/>
          <p:cNvSpPr/>
          <p:nvPr/>
        </p:nvSpPr>
        <p:spPr>
          <a:xfrm>
            <a:off x="6909664" y="6208776"/>
            <a:ext cx="292608" cy="292608"/>
          </a:xfrm>
          <a:prstGeom prst="ellipse">
            <a:avLst/>
          </a:prstGeom>
          <a:solidFill>
            <a:srgbClr val="17A398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93712" y="6208776"/>
            <a:ext cx="292608" cy="292608"/>
          </a:xfrm>
          <a:prstGeom prst="ellipse">
            <a:avLst/>
          </a:prstGeom>
          <a:solidFill>
            <a:srgbClr val="D7E1E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Update the Parameters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θ ← θ - η∇L(θ)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38912"/>
          </a:xfrm>
          <a:prstGeom prst="roundRect">
            <a:avLst>
              <a:gd name="adj" fmla="val 16667"/>
            </a:avLst>
          </a:prstGeom>
          <a:solidFill>
            <a:srgbClr val="F0F6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x = 0.5      w = 0.4      b = 0.1      t = 1      η = 0.5      —      sigmoid activation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85216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406640" y="2336292"/>
            <a:ext cx="502920" cy="0"/>
          </a:xfrm>
          <a:prstGeom prst="line">
            <a:avLst/>
          </a:prstGeom>
          <a:noFill/>
          <a:ln w="22225">
            <a:solidFill>
              <a:srgbClr val="E8965B"/>
            </a:solidFill>
            <a:prstDash val="solid"/>
            <a:headEnd type="triangl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4612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E8965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 w,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2084832"/>
            <a:ext cx="1051560" cy="502920"/>
          </a:xfrm>
          <a:prstGeom prst="roundRect">
            <a:avLst>
              <a:gd name="adj" fmla="val 16364"/>
            </a:avLst>
          </a:prstGeom>
          <a:solidFill>
            <a:srgbClr val="F0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0848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93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B3D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712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w_new = w - η·∂L/∂w          b_new = b - η·∂L/∂b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32186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w_new = 0.4 - 0.5(-0.0520)          b_new = 0.1 - 0.5(-0.1041)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3584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w_new = 0.4260          b_new = 0.1520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STEP DOES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64515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parameters increased, because the neuron under-predicted (y &lt; t) — nudging w and b up raises z, which raises y toward the target.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same update rule from the Gradient Descent section — only now ∇L(θ) came from real backpropagation instead of a simple quadratic.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loop thousands of times, over every weight in every layer, and this single-neuron update is literally how a full network learns.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537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989424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9" name="Shape 27"/>
          <p:cNvSpPr/>
          <p:nvPr/>
        </p:nvSpPr>
        <p:spPr>
          <a:xfrm>
            <a:off x="5373472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0" name="Shape 28"/>
          <p:cNvSpPr/>
          <p:nvPr/>
        </p:nvSpPr>
        <p:spPr>
          <a:xfrm>
            <a:off x="5757520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1568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2" name="Shape 30"/>
          <p:cNvSpPr/>
          <p:nvPr/>
        </p:nvSpPr>
        <p:spPr>
          <a:xfrm>
            <a:off x="6525616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3" name="Shape 31"/>
          <p:cNvSpPr/>
          <p:nvPr/>
        </p:nvSpPr>
        <p:spPr>
          <a:xfrm>
            <a:off x="6909664" y="6208776"/>
            <a:ext cx="292608" cy="29260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4" name="Shape 32"/>
          <p:cNvSpPr/>
          <p:nvPr/>
        </p:nvSpPr>
        <p:spPr>
          <a:xfrm>
            <a:off x="7293712" y="6208776"/>
            <a:ext cx="292608" cy="292608"/>
          </a:xfrm>
          <a:prstGeom prst="ellipse">
            <a:avLst/>
          </a:prstGeom>
          <a:solidFill>
            <a:srgbClr val="17A398"/>
          </a:solidFill>
          <a:ln w="19050">
            <a:solidFill>
              <a:srgbClr val="0B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DEEP-DIVE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Gradient Descent Actually Minimize?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function L(θ) — the activation gradient f'(z) is only one multiplier inside ∇L(θ)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 ← θ - η∇L(θ)      </a:t>
            </a:r>
            <a:r>
              <a:rPr lang="en-US" sz="1300" dirty="0">
                <a:solidFill>
                  <a:srgbClr val="5FD3C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∇L(θ) = ∂L/∂y · </a:t>
            </a:r>
            <a:r>
              <a:rPr lang="en-US" sz="1300" b="1" dirty="0">
                <a:solidFill>
                  <a:srgbClr val="E8965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f'(z)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∂z/∂w      — gradient descent walks downhill on L, using f'(z) as a passenger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neuron for both cases:  x = 0.5,  w = 0.4,  b = 0.1,  t = 1,  η = 0.5  — only y(1-y) differs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0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880360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36392"/>
            <a:ext cx="5349240" cy="201168"/>
          </a:xfrm>
          <a:prstGeom prst="rect">
            <a:avLst/>
          </a:prstGeom>
          <a:solidFill>
            <a:srgbClr val="17A39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803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GRADIENT  (this neuron, z = 0.3)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5021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43400" y="3502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-0.4256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f'(z) = y(1-y)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4340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0.2445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3616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∂z/∂w = 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4361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0.500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7914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43400" y="4791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-0.0520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22122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w_new = w - η·∂L/∂w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52212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7A39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0.4260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288036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0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2880360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E8965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3136392"/>
            <a:ext cx="5349240" cy="201168"/>
          </a:xfrm>
          <a:prstGeom prst="rect">
            <a:avLst/>
          </a:prstGeom>
          <a:solidFill>
            <a:srgbClr val="E8965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8803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GRADIENT  (hypothetical, z = 6)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35021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0" y="3502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-0.4256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3931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f'(z) = y(1-y)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05840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0.0009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43616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∂z/∂w = 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58400" y="4361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0.500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47914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058400" y="4791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-0.00019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522122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w_new = w - η·∂L/∂w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58400" y="52212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9701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0.400096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0F6F9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806440"/>
            <a:ext cx="1083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error, same loss gradient ∂L/∂y — </a:t>
            </a: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 saturated neuron's weight barely moves (+0.0001 vs +0.026). Gradient descent still targets L, but a near-zero f'(z) chokes off how much of that signal reaches w.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14B7A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39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Gradient Shape Matters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multiplies f'(x) layer by layer through the chain rule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94000"/>
            </a:srgbClr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2240280"/>
            <a:ext cx="640080" cy="73152"/>
          </a:xfrm>
          <a:prstGeom prst="roundRect">
            <a:avLst>
              <a:gd name="adj" fmla="val 50000"/>
            </a:avLst>
          </a:prstGeom>
          <a:solidFill>
            <a:srgbClr val="114B7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/ Tanh saturate for large |x|, so f'(x) → 0. Across many layers, repeated multiplication shrinks the gradient toward zero — early layers barely update.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94000"/>
            </a:srgbClr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2240280"/>
            <a:ext cx="640080" cy="73152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ReLU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ReLU neuron pushed to x &lt; 0 has f'(x) = 0 permanently for that region. Leaky ReLU's small slope α keeps a trickle of gradient alive.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03920" y="19659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94000"/>
            </a:srgbClr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78240" y="2240280"/>
            <a:ext cx="640080" cy="73152"/>
          </a:xfrm>
          <a:prstGeom prst="roundRect">
            <a:avLst>
              <a:gd name="adj" fmla="val 50000"/>
            </a:avLst>
          </a:prstGeom>
          <a:solidFill>
            <a:srgbClr val="E8965B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423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Gradient Flow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0" y="30175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ReLU's constant gradient of 1 for x &gt; 0 avoids saturation, which is why it became the default choice for deep hidden layers.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DEEP-DIVE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Gradients at a Glance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Overlaying f'(x) for every function reveals why some networks learn faster than others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406640" cy="4160520"/>
          </a:xfrm>
          <a:prstGeom prst="roundRect">
            <a:avLst>
              <a:gd name="adj" fmla="val 2198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pic>
        <p:nvPicPr>
          <p:cNvPr id="7" name="Image 0" descr="/home/claude/actfn/all_gradients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3120"/>
            <a:ext cx="6858000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874520"/>
            <a:ext cx="3456432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</p:spPr>
      </p:sp>
      <p:sp>
        <p:nvSpPr>
          <p:cNvPr id="9" name="Shape 6"/>
          <p:cNvSpPr/>
          <p:nvPr/>
        </p:nvSpPr>
        <p:spPr>
          <a:xfrm>
            <a:off x="8366760" y="205740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17A398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219456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24688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only 0.25 — the flattest of the four, so it saturates first.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183880" y="2944368"/>
            <a:ext cx="3456432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</p:spPr>
      </p:sp>
      <p:sp>
        <p:nvSpPr>
          <p:cNvPr id="13" name="Shape 10"/>
          <p:cNvSpPr/>
          <p:nvPr/>
        </p:nvSpPr>
        <p:spPr>
          <a:xfrm>
            <a:off x="8366760" y="3127248"/>
            <a:ext cx="502920" cy="73152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14" name="Text 11"/>
          <p:cNvSpPr/>
          <p:nvPr/>
        </p:nvSpPr>
        <p:spPr>
          <a:xfrm>
            <a:off x="8366760" y="32644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353872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1.0 — four times steeper than sigmoid near x = 0.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183880" y="4014216"/>
            <a:ext cx="3456432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</p:spPr>
      </p:sp>
      <p:sp>
        <p:nvSpPr>
          <p:cNvPr id="17" name="Shape 14"/>
          <p:cNvSpPr/>
          <p:nvPr/>
        </p:nvSpPr>
        <p:spPr>
          <a:xfrm>
            <a:off x="8366760" y="4197096"/>
            <a:ext cx="502920" cy="73152"/>
          </a:xfrm>
          <a:prstGeom prst="roundRect">
            <a:avLst>
              <a:gd name="adj" fmla="val 50000"/>
            </a:avLst>
          </a:prstGeom>
          <a:solidFill>
            <a:srgbClr val="E8965B"/>
          </a:solidFill>
          <a:ln/>
        </p:spPr>
      </p:sp>
      <p:sp>
        <p:nvSpPr>
          <p:cNvPr id="18" name="Text 15"/>
          <p:cNvSpPr/>
          <p:nvPr/>
        </p:nvSpPr>
        <p:spPr>
          <a:xfrm>
            <a:off x="8366760" y="43342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66760" y="460857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at exactly 1 for all x &gt; 0, then a hard drop to 0.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183880" y="5084064"/>
            <a:ext cx="3456432" cy="960120"/>
          </a:xfrm>
          <a:prstGeom prst="roundRect">
            <a:avLst>
              <a:gd name="adj" fmla="val 9524"/>
            </a:avLst>
          </a:prstGeom>
          <a:solidFill>
            <a:srgbClr val="F0F6F9"/>
          </a:solidFill>
          <a:ln/>
        </p:spPr>
      </p:sp>
      <p:sp>
        <p:nvSpPr>
          <p:cNvPr id="21" name="Shape 18"/>
          <p:cNvSpPr/>
          <p:nvPr/>
        </p:nvSpPr>
        <p:spPr>
          <a:xfrm>
            <a:off x="8366760" y="5266944"/>
            <a:ext cx="502920" cy="73152"/>
          </a:xfrm>
          <a:prstGeom prst="roundRect">
            <a:avLst>
              <a:gd name="adj" fmla="val 50000"/>
            </a:avLst>
          </a:prstGeom>
          <a:solidFill>
            <a:srgbClr val="7C93A0"/>
          </a:solidFill>
          <a:ln/>
        </p:spPr>
      </p:sp>
      <p:sp>
        <p:nvSpPr>
          <p:cNvPr id="22" name="Text 19"/>
          <p:cNvSpPr/>
          <p:nvPr/>
        </p:nvSpPr>
        <p:spPr>
          <a:xfrm>
            <a:off x="8366760" y="540410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66760" y="567842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ReLU, but never fully drops to 0 — the constant α floor.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8889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DEEP-DIVE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Sigmoid Gradient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f(x) = 1/(1+e⁻ˣ) to f'(x) = f(x)(1 - f(x))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93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993392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as a power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34440" y="2304288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(1 + e⁻ˣ)⁻¹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906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990088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chain rule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4440" y="3300984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 -(1 + e⁻ˣ)⁻² · (-e⁻ˣ) = e⁻ˣ / (1 + e⁻ˣ)²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0873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986784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fraction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429768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 [1/(1+e⁻ˣ)] · [e⁻ˣ/(1+e⁻ˣ)] = f(x) · [e⁻ˣ/(1+e⁻ˣ)]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10328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084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98348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1 - f(x)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34440" y="5294376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e⁻ˣ/(1+e⁻ˣ) = (1+e⁻ˣ-1)/(1+e⁻ˣ) = 1 - f(x)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35240" y="19202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23774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 f(x)·(1 - f(x))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909560" y="2926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— the derivative is written entirely in terms of the function's own output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35240" y="3474720"/>
            <a:ext cx="3977640" cy="2331720"/>
          </a:xfrm>
          <a:prstGeom prst="roundRect">
            <a:avLst>
              <a:gd name="adj" fmla="val 3922"/>
            </a:avLst>
          </a:prstGeom>
          <a:solidFill>
            <a:srgbClr val="F0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3611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393192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backprop, y = σ(z) is already computed in the forward pass — so f'(x) costs one multiply, no extra exponentials.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y(1-y) term used in the Example 2 weight update on the earlier slide.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1486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DEEP-DIVE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Tanh Gradient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f(x) = (eˣ - e⁻ˣ)/(eˣ + e⁻ˣ) to f'(x) = 1 - f(x)²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93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993392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quotient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34440" y="2304288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 = eˣ - e⁻ˣ,   v = eˣ + e⁻ˣ   ⇒   f = u/v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906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990088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each part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4440" y="3300984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u' = eˣ + e⁻ˣ = v          v' = eˣ - e⁻ˣ = 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0873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986784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quotient rule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429768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 (u'v - uv') / v² = (v·v - u·u) / v² = (v² - u²)/v²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10328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084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A39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98348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34440" y="5294376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 1 - (u/v)² = 1 - tanh²(x)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35240" y="19202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23774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f'(x) = 1 - f(x)²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909560" y="29260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trick as sigmoid — expressed purely in terms of the output f(x)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35240" y="3474720"/>
            <a:ext cx="3977640" cy="2331720"/>
          </a:xfrm>
          <a:prstGeom prst="roundRect">
            <a:avLst>
              <a:gd name="adj" fmla="val 3922"/>
            </a:avLst>
          </a:prstGeom>
          <a:solidFill>
            <a:srgbClr val="F0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3611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393192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x = 0, f(x) = 0 so f'(x) = 1 — four times the sigmoid's peak gradient of 0.25.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saturates for large |x|, since f(x) → ±1 makes f'(x) → 0, same vanishing-gradient risk as sigmoid.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16846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737360"/>
          <a:ext cx="11091672" cy="4023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Max Gradient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Differentiable?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Sign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{-1,0,1}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 (a.e.)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Legacy perceptron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{0,1}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 (a.e.)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Threshold logic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Sigmoid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(0, 1)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0.25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Binary output / gates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Tanh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(-1, 1)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RNN hidden states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ReLU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[0, ∞)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1 (x&gt;0)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Piecewise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Default hidden layers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Leaky ReLU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(-∞, ∞)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1 (x&gt;0)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Piecewise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Fixes dying ReLU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</a:rPr>
                        <a:t>Softmax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(0,1), Σ=1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≤ 0.25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Yes (Jacobian)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Multi-class output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0F6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/ Leaky ReLU for hidden layers, Sigmoid for binary output, Softmax for multi-class output, Tanh for RNNs.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Gradients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67943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115313-3D87-47C9-9F7F-8DE0BEF03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074"/>
            <a:ext cx="12192000" cy="666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266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 &amp; Tanh — The Saturating Activations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squash their input into a bounded range — and both flatten out at the extremes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f′(x) vs. input x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0350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curves collapse toward 0 as |x| grows — that's saturation. Tanh's peak (1.0) is 4× sigmoid's (0.25), so it decays a little less severely, but it still vanishes in deep stacks.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0" y="1371600"/>
            <a:ext cx="4846320" cy="14173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8" name="Text 5"/>
          <p:cNvSpPr/>
          <p:nvPr/>
        </p:nvSpPr>
        <p:spPr>
          <a:xfrm>
            <a:off x="7086600" y="1481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  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σ(x) = 1 / (1+e⁻ˣ)   →  range (0, 1)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86600" y="1783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derivative = 0.25 at x=0. A 10-layer network attenuates the gradient by up to 0.25¹⁰ ≈ 9.5×10⁻⁷ — effectively zero.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0" y="2971800"/>
            <a:ext cx="4846320" cy="14173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3081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  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tanh(x) = (eˣ−e⁻ˣ)/(eˣ+e⁻ˣ)   →  range (−1, 1)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86600" y="3383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 output helps convergence, and its wider active range (|x| &lt; ~2) delays saturation — but it still vanishes at depth.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0" y="4572000"/>
            <a:ext cx="4846320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470001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saturate at their tails, so both are prone to vanishing gradients — sigmoid more severely than tanh.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 &amp; Leaky ReLU — Solving (Most of) 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 on the positive side keeps the gradient signal intact at any depth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f′(x) vs. input x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0350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derivative is a flat 1 for any positive input — no shrinking with depth. But it's exactly 0 for negative input, which can permanently silence a neuron ("dying ReLU"). Leaky ReLU keeps a small non-zero slope (α≈0.01) so no neuron's gradient is ever fully dead.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0" y="14264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3716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 → no vanishing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170078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active (positive) side, gradients pass through unchanged, so networks can be trained 50–100+ layers deep.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0" y="284378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27889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ReLU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0" y="311810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 stuck with negative input forever has derivative 0 and never updates again — a localized, permanent failure, not a gradual decay.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0" y="4261104"/>
            <a:ext cx="292608" cy="29260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4206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ReLU's fix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0" y="453542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slope (e.g. α=0.01) for x&lt;0 keeps every neuron's gradient non-zero, trading a little saturation-resistance for no dead neurons.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Vanishing Gradient — Activation Function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each activation function's derivative behavior determines its risk of vanishing gradients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417320"/>
          <a:ext cx="11247120" cy="4480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derivative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Saturates?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scalability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F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(undefined at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(no gradient signal at all)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trainable by backprop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F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(zero gradient everywhere)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trainable by backprop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F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(~4–5 layers reliably)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F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Moderate–severe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Limited, better than sigmoid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F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(active 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tail only (hard cutoff)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on active path; dying-ReLU instead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(100+ layers)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F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Leaky ReLU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(α on negative 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true saturation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Excellent; avoids dead neurons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F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logits (layer-wide)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saturate with extreme logits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in typical output-layer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AF0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output layer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use ReLU (or Leaky ReLU) for hidden layers in deep networks; reserve Sigmoid/Tanh/Softmax for output layers where their bounded ranges are actually needed.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6225</Words>
  <Application>Microsoft Office PowerPoint</Application>
  <PresentationFormat>Widescreen</PresentationFormat>
  <Paragraphs>861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Poulami Das (Dr.)</cp:lastModifiedBy>
  <cp:revision>10</cp:revision>
  <dcterms:created xsi:type="dcterms:W3CDTF">2026-08-05T04:53:31Z</dcterms:created>
  <dcterms:modified xsi:type="dcterms:W3CDTF">2026-08-13T09:11:16Z</dcterms:modified>
</cp:coreProperties>
</file>