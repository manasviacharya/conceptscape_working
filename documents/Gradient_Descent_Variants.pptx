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D9861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Variants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· Mini-Batch SGD · Momentum GD · Nesterov Accelerated GD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397764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39776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397764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9776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Numerical 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Deck  ·  Neural Networks &amp;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Where We Start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∇J(w)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∇J(w) is computed using the </a:t>
            </a:r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training set</a:t>
            </a:r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single update.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full pass over N samples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quality: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smooth, deterministic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update: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expensive for large datasets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709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path: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8036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curve straight to the minimum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1417320"/>
            <a:ext cx="4526280" cy="4434840"/>
          </a:xfrm>
          <a:prstGeom prst="roundRect">
            <a:avLst>
              <a:gd name="adj" fmla="val 164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691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010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22402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dataset of millions of samples, one update means one full sweep through all of them. That's slow, memory-heavy, and wasteful early in training when a rough gradient direction is already good enough.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3794760"/>
            <a:ext cx="3931920" cy="0"/>
          </a:xfrm>
          <a:prstGeom prst="line">
            <a:avLst/>
          </a:prstGeom>
          <a:noFill/>
          <a:ln w="12700">
            <a:solidFill>
              <a:srgbClr val="2C3D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9136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fixes: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4242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Stochastic GD — update per sample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4572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Mini-Batch SGD — update per small batch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4901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Momentum — smooth out the noisy path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5230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Nesterov Accelerated GD — look ahead before stepping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STOCHASTIC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Weights After Every Single Sample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37960" cy="1920240"/>
          </a:xfrm>
          <a:prstGeom prst="roundRect">
            <a:avLst>
              <a:gd name="adj" fmla="val 3810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∇Jᵢ(w)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∇Jᵢ(w) 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gradient of the loss for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example i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whole dataset.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behaves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16966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59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4059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update per sample — many updates per epoch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572000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62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44622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zig-zagging toward the minimum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974336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64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48646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sample in memory at a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376672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2669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Escapes: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52669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 help escape shallow local minima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141732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Path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39558" y="2106320"/>
            <a:ext cx="3449117" cy="2713025"/>
          </a:xfrm>
          <a:prstGeom prst="ellipse">
            <a:avLst/>
          </a:prstGeom>
          <a:ln w="15875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6934" y="2484882"/>
            <a:ext cx="2474366" cy="1955902"/>
          </a:xfrm>
          <a:prstGeom prst="ellipse">
            <a:avLst/>
          </a:prstGeom>
          <a:ln w="15875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4309" y="2879217"/>
            <a:ext cx="1499616" cy="1167232"/>
          </a:xfrm>
          <a:prstGeom prst="ellipse">
            <a:avLst/>
          </a:prstGeom>
          <a:ln w="15875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4194" y="3226232"/>
            <a:ext cx="599846" cy="473202"/>
          </a:xfrm>
          <a:prstGeom prst="ellipse">
            <a:avLst/>
          </a:prstGeom>
          <a:ln w="15875">
            <a:solidFill>
              <a:srgbClr val="2DD4BF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00109" y="3398825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9273845" y="333481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0138867" y="4283050"/>
            <a:ext cx="749808" cy="567842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0138867" y="3589020"/>
            <a:ext cx="374904" cy="69403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464040" y="3336646"/>
            <a:ext cx="1049731" cy="252374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464040" y="2705710"/>
            <a:ext cx="374904" cy="630936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9014155" y="2705710"/>
            <a:ext cx="824789" cy="410108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4155" y="3115818"/>
            <a:ext cx="149962" cy="347015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06379" y="4768596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88575" y="4232758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63479" y="3538728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9" name="Shape 37"/>
          <p:cNvSpPr/>
          <p:nvPr/>
        </p:nvSpPr>
        <p:spPr>
          <a:xfrm>
            <a:off x="9413748" y="3286354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788652" y="2655418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8963863" y="3065526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42" name="Shape 40"/>
          <p:cNvSpPr/>
          <p:nvPr/>
        </p:nvSpPr>
        <p:spPr>
          <a:xfrm>
            <a:off x="9113825" y="3412541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10522915" y="49423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8952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hiker who takes a step after every single glance at the compass — constantly reacting, so the path jitters but keeps trending toward the valley.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STOCHASTIC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One Epoch of SGD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Model: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w·x   </a:t>
            </a:r>
            <a:pPr indent="0" marL="0">
              <a:buNone/>
            </a:pPr>
            <a:r>
              <a:rPr lang="en-US" sz="15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Loss: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½(ŷ − y)²   </a:t>
            </a:r>
            <a:pPr indent="0" marL="0">
              <a:buNone/>
            </a:pPr>
            <a:r>
              <a:rPr lang="en-US" sz="15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Gradient: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(ŷ − y)·x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(target relation y = 2x):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(x,y) = (1,2), (2,4), (3,6), (4,8)     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 = 0,   η = 0.1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600200"/>
                <a:gridCol w="1600200"/>
                <a:gridCol w="1600200"/>
                <a:gridCol w="160020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w·x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= ŷ−y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= error·x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− η·grad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0 − 0.1(−2)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0.2 − 0.1(−7.2)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−9.720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0.92 − 0.1(−9.72)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1.892 − 0.1(−1.728)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5166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5029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just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updates (1 epoch)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 moved from 0 to 2.065 — close to the true value w = 2. Each update overshoots and corrects a little; that jitter is the signature of SGD.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MINI-BATCH STOCHASTIC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Ground Between Batch and SGD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37960" cy="2148840"/>
          </a:xfrm>
          <a:prstGeom prst="roundRect">
            <a:avLst>
              <a:gd name="adj" fmla="val 3404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(1/b) Σ ∇Jᵢ(w)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gradient over a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of b samples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(commonly 16–256), instead of 1 sample or all 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6537960" cy="2103120"/>
          </a:xfrm>
          <a:prstGeom prst="roundRect">
            <a:avLst>
              <a:gd name="adj" fmla="val 3478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default in practice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398264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2885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42885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noisy than SGD, far cheaper than full batch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5546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457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47457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map efficiently onto GPU/TPU parallelism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12664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02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knob: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520293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b trades speed against stability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141732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SGD &amp; Mini-Batch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89520" y="210312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15875">
            <a:solidFill>
              <a:srgbClr val="7C8C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505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 = 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30632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4655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&lt; b &lt; 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40233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44256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 = 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5029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 random sample of 200 voters instead of asking one person or the entire country — enough signal, far less effort.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MINI-BATCH STOCHASTIC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Same Data, Batch Size b =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setup as before: </a:t>
            </a:r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w·x,  data (1,2) (2,4) (3,6) (4,8),  w = 0,  η = 0.1.  </a:t>
            </a:r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2 batches of size 2: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{(1,2),(2,4)},  B₂ = {(3,6),(4,8)}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1: samples (1,2), (2,4)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errors = −2, −4     per-sample grad = −2·1, −4·2 = −2, −8
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grad = (−2 + −8)/2 = −5.0
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0 − 0.1(−5.0) = 0.500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2: samples (3,6), (4,8)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pred = 1.5, 2.0     errors = −4.5, −6.0
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grad = (−13.5 − 24)/2 = −18.75
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0.5 − 0.1(−18.75) = 2.375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188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vs Mini-Batch after 1 epoch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5166360"/>
          <a:ext cx="10424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in 1 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6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after 1 epoch (true w =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6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GD (b =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SGD (b =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68680" y="62179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takes fewer, steadier steps — each one averaged over more information.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MOMENTUM-BASED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Update Some Inertia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β·v + η·∇J(w)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running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from past gradients;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≈ 0.9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controls how much history carries forward.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537960" cy="1874520"/>
          </a:xfrm>
          <a:prstGeom prst="roundRect">
            <a:avLst>
              <a:gd name="adj" fmla="val 3902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42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58114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4714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44714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along directions of consistent gradient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00176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4892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Dampens oscillation across steep, narrow valleys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422392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312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53126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overshoot the minimum before settling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141732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vs Plain GD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39558" y="2106320"/>
            <a:ext cx="3449117" cy="2713025"/>
          </a:xfrm>
          <a:prstGeom prst="ellipse">
            <a:avLst/>
          </a:prstGeom>
          <a:ln w="15875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6934" y="2484882"/>
            <a:ext cx="2474366" cy="1955902"/>
          </a:xfrm>
          <a:prstGeom prst="ellipse">
            <a:avLst/>
          </a:prstGeom>
          <a:ln w="15875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4309" y="2879217"/>
            <a:ext cx="1499616" cy="1167232"/>
          </a:xfrm>
          <a:prstGeom prst="ellipse">
            <a:avLst/>
          </a:prstGeom>
          <a:ln w="15875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4194" y="3226232"/>
            <a:ext cx="599846" cy="473202"/>
          </a:xfrm>
          <a:prstGeom prst="ellipse">
            <a:avLst/>
          </a:prstGeom>
          <a:ln w="15875">
            <a:solidFill>
              <a:srgbClr val="2DD4BF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00109" y="3398825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9273845" y="333481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9651492" y="3746754"/>
            <a:ext cx="1237183" cy="1104138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8714232" y="2958084"/>
            <a:ext cx="937260" cy="78867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14232" y="2958084"/>
            <a:ext cx="599846" cy="378562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06379" y="4768596"/>
            <a:ext cx="164592" cy="16459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0" y="3696462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8663940" y="2907792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9263786" y="3286354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10522915" y="49423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8952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rolling downhill — it builds speed on consistent slopes and can roll past the valley floor before settling back.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MOMENTUM-BASED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Two Full-Batch Steps with Momentum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(full batch, N = 4), </a:t>
            </a:r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= 0,  v₀ = 0,  η = 0.1,  β = 0.9.  </a:t>
            </a:r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used each step is the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all 4 samples</a:t>
            </a:r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(at w = 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errors = −2, −4, −6, −8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−2, −8, −18, −32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grad = −60/4 = −15.0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v₁ = 0.9(0) + 0.1(−15) = −1.5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w₁ = 0 − (−1.5) = 1.500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(at w = 1.5)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pred = 1.5, 3, 4.5, 6   errors = −0.5, −1, −1.5, −2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−0.5, −2, −4.5, −8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grad = −15/4 = −3.75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v₂ = 0.9(−1.5) + 0.1(−3.75) = −1.725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w₂ = 1.5 − (−1.725) = 3.225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193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51206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overshoot: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jumped past the true value (w = 2) to 3.225 in just two steps — the accumulated velocity carries through the minimum. Plain GD needs many small careful steps to travel this far; momentum gets there fast but wobbles before settling, which later epochs correct.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NESTEROV ACCELERATED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 Before You Leap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37960" cy="2514600"/>
          </a:xfrm>
          <a:prstGeom prst="roundRect">
            <a:avLst>
              <a:gd name="adj" fmla="val 290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w_look = w − β·v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β·v + η·∇J(w_look)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evaluated at the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point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(where momentum is about to carry you), not at w itself.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6537960" cy="1783080"/>
          </a:xfrm>
          <a:prstGeom prst="roundRect">
            <a:avLst>
              <a:gd name="adj" fmla="val 4103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plain momentum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672584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628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45628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slope past where momentum is heading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129784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200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overshoot: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06040" y="50200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Course-corrects before fully committing to a step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41732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Nesterov vs Momentum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39558" y="2113178"/>
            <a:ext cx="3449117" cy="2909621"/>
          </a:xfrm>
          <a:prstGeom prst="ellipse">
            <a:avLst/>
          </a:prstGeom>
          <a:ln w="15875">
            <a:solidFill>
              <a:srgbClr val="2DD4B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6934" y="2519172"/>
            <a:ext cx="2474366" cy="2097634"/>
          </a:xfrm>
          <a:prstGeom prst="ellipse">
            <a:avLst/>
          </a:prstGeom>
          <a:ln w="15875">
            <a:solidFill>
              <a:srgbClr val="2DD4BF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4309" y="2942082"/>
            <a:ext cx="1499616" cy="1251814"/>
          </a:xfrm>
          <a:prstGeom prst="ellipse">
            <a:avLst/>
          </a:prstGeom>
          <a:ln w="15875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4194" y="3314243"/>
            <a:ext cx="599846" cy="507492"/>
          </a:xfrm>
          <a:prstGeom prst="ellipse">
            <a:avLst/>
          </a:prstGeom>
          <a:ln w="15875">
            <a:solidFill>
              <a:srgbClr val="2DD4BF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00109" y="3503981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9273845" y="343997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H="1" flipV="1">
            <a:off x="9651492" y="3872484"/>
            <a:ext cx="1237183" cy="1184148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8901684" y="3094330"/>
            <a:ext cx="749808" cy="778154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1684" y="3094330"/>
            <a:ext cx="337414" cy="338328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6379" y="4974336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0" y="3822192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851392" y="3044038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9188806" y="3382366"/>
            <a:ext cx="100584" cy="100584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10522915" y="5148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89520" y="5349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cyclist who looks ahead around the bend before braking, instead of braking only once they reach it — anticipating the curve avoids a wide, overshooting swing.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NESTEROV ACCELERATED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Same Two Steps, With Look-Ahead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(full batch, N = 4), </a:t>
            </a:r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= 0,  v₀ = 0,  η = 0.1,  β = 0.9.  </a:t>
            </a:r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first computes a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weight</a:t>
            </a:r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evaluates the gradient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(w₀ = 0, v₀ = 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look-ahead: w_look = 0 − 0.9(0) = 0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(same as w₀ since v₀ = 0)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avg grad at w_look = −15.0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v₁ = 0.9(0) + 0.1(−15) = −1.5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w₁ = 0 − (−1.5) = 1.500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(w₁ = 1.5, v₁ = −1.5)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look-ahead: w_look = 1.5 − 0.9(−1.5) = 2.85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pred@2.85 = 2.85,5.7,8.55,11.4 → avg grad = 6.375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v₂ = 0.9(−1.5) + 0.1(6.375) = −0.7125
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w₂ = 1.5 − (−0.7125) = 2.2125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193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51206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look-ahead correction working: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step 2, the gradient is evaluated at w_look = 2.85 — already past the true minimum (w = 2) — so it comes back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pulls the velocity down. Result: w₂ = 2.2125, far closer to w = 2 than plain momentum's 3.225 after the same two steps.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Four, Side by Side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63140"/>
                <a:gridCol w="2263140"/>
                <a:gridCol w="2263140"/>
                <a:gridCol w="22631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SGD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Nesterov (NAG)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samples (16–256)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Batch/mini-batch +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at look-ahead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/ 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(highest)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base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base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noisy, zig-zag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Moderately smooth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can overshoot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less overshoot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one velocity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one velocity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Huge, streaming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deep learning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Speeding up any of the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with tighter convergence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977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decides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update sees; momentum and Nesterov decide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update moves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Nesterov simply evaluates the gradient a step ahead, correcting the overshoot momentum is prone to. In practice, mini-batches supply the gradient and Nesterov (or Adam/RMSProp) shapes the step.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577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 </a:t>
            </a:r>
            <a:pPr indent="0" marL="0">
              <a:buNone/>
            </a:pPr>
            <a:r>
              <a:rPr lang="en-US" sz="11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total training samples,  b = batch size,  η = learning rate,  β = momentum coefficient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→ one update. Fast and noisy; w reached 2.065 after 4 updates.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→ averaged update. b = 2 gave w = 2.375 in only 2 updates.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GD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carries gradient history forward. Reached w = 3.225 in 2 steps — fast, with overshoot.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Nesterov (NAG)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ahead before computing the gradient. Reached w = 2.2125 in 2 steps — fast, with far less overshoot.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 of thumb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28523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mini-batch SGD (batch size 32–256) plus Nesterov momentum (β ≈ 0.9) as your baseline optimizer. It combines the stability of averaging over a batch, the speed of carrying gradient history forward, and a look-ahead correction that curbs overshoot — the same lineage of ideas behind modern optimizers like Adam and RMSProp.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in Deep Learning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55403A244C844826B21F6E390126F" ma:contentTypeVersion="3" ma:contentTypeDescription="Create a new document." ma:contentTypeScope="" ma:versionID="7fbb4b53e152e6d76ee280997ec5b35d">
  <xsd:schema xmlns:xsd="http://www.w3.org/2001/XMLSchema" xmlns:xs="http://www.w3.org/2001/XMLSchema" xmlns:p="http://schemas.microsoft.com/office/2006/metadata/properties" xmlns:ns2="a77c890a-8b4b-4fa9-b3cb-8d4d1ee30786" targetNamespace="http://schemas.microsoft.com/office/2006/metadata/properties" ma:root="true" ma:fieldsID="29aa713a711771577e31e938be75d0d8" ns2:_="">
    <xsd:import namespace="a77c890a-8b4b-4fa9-b3cb-8d4d1ee307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c890a-8b4b-4fa9-b3cb-8d4d1ee307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E5A3D9-593E-4D92-8C97-3DF2F59EB20C}"/>
</file>

<file path=customXml/itemProps2.xml><?xml version="1.0" encoding="utf-8"?>
<ds:datastoreItem xmlns:ds="http://schemas.openxmlformats.org/officeDocument/2006/customXml" ds:itemID="{1F26C63F-CD23-4CAB-B231-37B360DC7936}"/>
</file>

<file path=customXml/itemProps3.xml><?xml version="1.0" encoding="utf-8"?>
<ds:datastoreItem xmlns:ds="http://schemas.openxmlformats.org/officeDocument/2006/customXml" ds:itemID="{D88D1E0A-38BD-44A4-9DD5-A551CB5EB8C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2026-08-18T03:42:30Z</dcterms:created>
  <dcterms:modified xsi:type="dcterms:W3CDTF">2026-08-18T03:42:30Z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0x0101009F455403A244C844826B21F6E390126F</vt:lpwstr>
  </property>
</Properties>
</file>