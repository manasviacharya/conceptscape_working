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657600" cy="3657600"/>
          </a:xfrm>
          <a:prstGeom prst="ellipse">
            <a:avLst/>
          </a:prstGeom>
          <a:solidFill>
            <a:srgbClr val="D9861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OPTIMIZATION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(SGD)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129844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39696" y="3977640"/>
            <a:ext cx="138988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3977640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3977640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39776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38928" y="3977640"/>
            <a:ext cx="212140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397764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61504" y="3977640"/>
            <a:ext cx="2029968" cy="329184"/>
          </a:xfrm>
          <a:prstGeom prst="roundRect">
            <a:avLst>
              <a:gd name="adj" fmla="val 50000"/>
            </a:avLst>
          </a:prstGeom>
          <a:solidFill>
            <a:srgbClr val="2332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397764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Deck  ·  Neural Networks &amp;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Update Rule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updates the model's weights after computing the gradient from just one training example at a time, instead of averaging over the entire dataset (as in Batch Gradient Descent).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547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w − η · ∇Jᵢ(w)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49834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(parameter) being learned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367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536752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57515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∇Jᵢ(w)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03120" y="575157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of the loss computed using only the i-th training sample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846320"/>
          </a:xfrm>
          <a:prstGeom prst="roundRect">
            <a:avLst>
              <a:gd name="adj" fmla="val 150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 (often to 0 or a small random value).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8541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epoch: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2752344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2" name="Text 10"/>
          <p:cNvSpPr/>
          <p:nvPr/>
        </p:nvSpPr>
        <p:spPr>
          <a:xfrm>
            <a:off x="1783080" y="265176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training data.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3118104"/>
            <a:ext cx="73152" cy="73152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30175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training sample (xᵢ, yᵢ):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57400" y="3474720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6" name="Text 14"/>
          <p:cNvSpPr/>
          <p:nvPr/>
        </p:nvSpPr>
        <p:spPr>
          <a:xfrm>
            <a:off x="2240280" y="33832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prediction ŷᵢ = w · xᵢ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822192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18" name="Text 16"/>
          <p:cNvSpPr/>
          <p:nvPr/>
        </p:nvSpPr>
        <p:spPr>
          <a:xfrm>
            <a:off x="2240280" y="373075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error = ŷᵢ − yᵢ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57400" y="4169664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4078224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Compute gradient ∇Jᵢ(w) = (ŷᵢ − yᵢ) · xᵢ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57400" y="4517136"/>
            <a:ext cx="54864" cy="54864"/>
          </a:xfrm>
          <a:prstGeom prst="ellipse">
            <a:avLst/>
          </a:prstGeom>
          <a:solidFill>
            <a:srgbClr val="7C8CA0"/>
          </a:solidFill>
          <a:ln/>
        </p:spPr>
      </p:sp>
      <p:sp>
        <p:nvSpPr>
          <p:cNvPr id="22" name="Text 20"/>
          <p:cNvSpPr/>
          <p:nvPr/>
        </p:nvSpPr>
        <p:spPr>
          <a:xfrm>
            <a:off x="2240280" y="4425696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Update: w ← w − η · ∇Jᵢ(w)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49011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873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per epoch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training sample (N updates)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Noisy, zig-zags toward the minimum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— only one sample needed at a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per-update, but noisy overall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minima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can actually help escape shallow local minima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49377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4937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analogy:  </a:t>
            </a:r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hiker who takes a step after every single glance at the compass — constantly reacting, so the path jitters but keeps trending toward the valley.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w · x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trained using SGD on the following data (which follows the true relation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2x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B1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A9B7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2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566160" y="2651760"/>
            <a:ext cx="8046720" cy="2148840"/>
          </a:xfrm>
          <a:prstGeom prst="roundRect">
            <a:avLst>
              <a:gd name="adj" fmla="val 3404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86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86200" y="3364992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Loss function: </a:t>
            </a:r>
            <a:pPr indent="0" marL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½(ŷ − y)²</a:t>
            </a:r>
            <a:pPr indent="0" marL="0">
              <a:lnSpc>
                <a:spcPct val="155000"/>
              </a:lnSpc>
              <a:buNone/>
            </a:pPr>
            <a:r>
              <a:rPr lang="en-US" sz="1450" dirty="0">
                <a:solidFill>
                  <a:srgbClr val="A9B7C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 so  </a:t>
            </a:r>
            <a:pPr indent="0" marL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∂L/∂w = (ŷ − y)·x
</a:t>
            </a:r>
            <a:endParaRPr lang="en-US" sz="14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Initial weight  w₀ = 0
</a:t>
            </a:r>
            <a:endParaRPr lang="en-US" sz="14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Learning rate  η = 0.1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</a:t>
            </a:r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w after one full epoch (all 4 samples, in order) of SGD.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Steps 1 &amp;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</a:t>
            </a:r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− η(ŷ − y)x</a:t>
            </a:r>
            <a:pPr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after each sample.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 y) = (1, 2),  w = 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0 × 1 = 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850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 = 0 − 2 = −2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3982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 = −2 × 1 = −2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47640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111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0 − 0.1(−2) = 0.200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477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487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 y) = (2, 4),  w = 0.2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0.2 × 2 = 0.4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9224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6850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 = 0.4 − 4 = −3.6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92240" y="4050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39826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 = −3.6 × 2 = −7.2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492240" y="47640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11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0.2 − 0.1(−7.2) = 0.920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92240" y="54772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Steps 3 &amp; 4, and Result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 y) = (3, 6),  w = 0.92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0.92 × 3 = 2.76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540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 = 2.76 − 6 = −3.24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 = −3.24 × 3 = −9.72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0.92 − 0.1(−9.72) = 1.892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E2C3A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CA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 y) = (4, 8),  w = 1.892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1.892 × 4 = 7.568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0540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error = 7.568 − 8 = −0.432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6210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grad = −0.432 × 4 = −1.728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= 1.892 − 0.1(−1.728) = 2.065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33245"/>
          </a:solidFill>
          <a:ln w="9525">
            <a:solidFill>
              <a:srgbClr val="2C3D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5595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08760" y="55046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epoch (4 updates), </a:t>
            </a:r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2.065</a:t>
            </a:r>
            <a:pPr indent="0" marL="0">
              <a:buNone/>
            </a:pPr>
            <a:r>
              <a:rPr lang="en-US" sz="15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very close to the true value w = 2.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— Theory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455403A244C844826B21F6E390126F" ma:contentTypeVersion="3" ma:contentTypeDescription="Create a new document." ma:contentTypeScope="" ma:versionID="7fbb4b53e152e6d76ee280997ec5b35d">
  <xsd:schema xmlns:xsd="http://www.w3.org/2001/XMLSchema" xmlns:xs="http://www.w3.org/2001/XMLSchema" xmlns:p="http://schemas.microsoft.com/office/2006/metadata/properties" xmlns:ns2="a77c890a-8b4b-4fa9-b3cb-8d4d1ee30786" targetNamespace="http://schemas.microsoft.com/office/2006/metadata/properties" ma:root="true" ma:fieldsID="29aa713a711771577e31e938be75d0d8" ns2:_="">
    <xsd:import namespace="a77c890a-8b4b-4fa9-b3cb-8d4d1ee307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c890a-8b4b-4fa9-b3cb-8d4d1ee307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CCC126-4964-47D4-85A5-357C8B9EF1D1}"/>
</file>

<file path=customXml/itemProps2.xml><?xml version="1.0" encoding="utf-8"?>
<ds:datastoreItem xmlns:ds="http://schemas.openxmlformats.org/officeDocument/2006/customXml" ds:itemID="{5F23A882-6F22-4D40-8423-AFD0CDF6747F}"/>
</file>

<file path=customXml/itemProps3.xml><?xml version="1.0" encoding="utf-8"?>
<ds:datastoreItem xmlns:ds="http://schemas.openxmlformats.org/officeDocument/2006/customXml" ds:itemID="{4281F8FB-58FB-4719-AE32-978C407DF20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2026-08-18T04:05:25Z</dcterms:created>
  <dcterms:modified xsi:type="dcterms:W3CDTF">2026-08-18T04:05:25Z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0x0101009F455403A244C844826B21F6E390126F</vt:lpwstr>
  </property>
</Properties>
</file>